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5" r:id="rId1"/>
    <p:sldMasterId id="2147483676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3" r:id="rId24"/>
    <p:sldId id="284" r:id="rId25"/>
    <p:sldId id="286" r:id="rId26"/>
    <p:sldId id="287" r:id="rId27"/>
    <p:sldId id="282" r:id="rId28"/>
  </p:sldIdLst>
  <p:sldSz cx="12192000" cy="6858000"/>
  <p:notesSz cx="7772400" cy="10058400"/>
  <p:embeddedFontLst>
    <p:embeddedFont>
      <p:font typeface="Roboto Mono" pitchFamily="49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80"/>
  </p:normalViewPr>
  <p:slideViewPr>
    <p:cSldViewPr snapToGrid="0">
      <p:cViewPr varScale="1">
        <p:scale>
          <a:sx n="144" d="100"/>
          <a:sy n="144" d="100"/>
        </p:scale>
        <p:origin x="216" y="216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402138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5502e03d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5502e03d4_1_0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a5502e03d4_1_0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560d0887e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560d0887e_1_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a560d0887e_1_4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560d0887e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560d0887e_2_17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a560d0887e_2_17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560d0887e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560d0887e_1_3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a560d0887e_1_34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560d0887e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560d0887e_2_37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a560d0887e_2_37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560d0887e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560d0887e_4_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a560d0887e_4_2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560d0887e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560d0887e_1_4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a560d0887e_1_42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560d0887e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560d0887e_4_2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a560d0887e_4_23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560d0887e_4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560d0887e_4_3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a560d0887e_4_34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9bf981f1c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9bf981f1c_1_38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99bf981f1c_1_38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560d0887e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560d0887e_5_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a560d0887e_5_1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560d0887e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560d0887e_5_7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a560d0887e_5_7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560d0887e_5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560d0887e_5_4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a560d0887e_5_42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560d0887e_5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560d0887e_5_25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a560d0887e_5_25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3c62cf8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83c62cf81_0_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a83c62cf81_0_4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83c62cf8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83c62cf81_0_18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a83c62cf81_0_18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560d0887e_5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560d0887e_5_3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a560d0887e_5_34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1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 txBox="1"/>
          <p:nvPr/>
        </p:nvSpPr>
        <p:spPr>
          <a:xfrm>
            <a:off x="-101600" y="5257800"/>
            <a:ext cx="2946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2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203200" y="5666602"/>
            <a:ext cx="2540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99" name="Google Shape;99;p16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" name="Google Shape;102;p1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8839201" y="-1"/>
            <a:ext cx="2924257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6"/>
          <p:cNvGrpSpPr/>
          <p:nvPr/>
        </p:nvGrpSpPr>
        <p:grpSpPr>
          <a:xfrm>
            <a:off x="2844800" y="6553201"/>
            <a:ext cx="9347201" cy="45719"/>
            <a:chOff x="1905000" y="6553200"/>
            <a:chExt cx="7010400" cy="45719"/>
          </a:xfrm>
        </p:grpSpPr>
        <p:sp>
          <p:nvSpPr>
            <p:cNvPr id="104" name="Google Shape;104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0" y="1295401"/>
            <a:ext cx="9347201" cy="45719"/>
            <a:chOff x="1905000" y="6553200"/>
            <a:chExt cx="7010400" cy="45719"/>
          </a:xfrm>
        </p:grpSpPr>
        <p:sp>
          <p:nvSpPr>
            <p:cNvPr id="108" name="Google Shape;108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0" y="6554056"/>
            <a:ext cx="12192000" cy="30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1815" y="6554055"/>
            <a:ext cx="121801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3352680"/>
            <a:ext cx="11581200" cy="2742120"/>
          </a:xfrm>
          <a:prstGeom prst="rect">
            <a:avLst/>
          </a:prstGeom>
          <a:solidFill>
            <a:srgbClr val="101141"/>
          </a:solidFill>
          <a:ln>
            <a:noFill/>
          </a:ln>
          <a:effectLst>
            <a:outerShdw blurRad="4000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860640" y="6095880"/>
            <a:ext cx="3859560" cy="75240"/>
          </a:xfrm>
          <a:prstGeom prst="rect">
            <a:avLst/>
          </a:prstGeom>
          <a:solidFill>
            <a:srgbClr val="76C2E5"/>
          </a:solidFill>
          <a:ln>
            <a:noFill/>
          </a:ln>
          <a:effectLst>
            <a:outerShdw blurRad="4000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6095880"/>
            <a:ext cx="3859560" cy="75240"/>
          </a:xfrm>
          <a:prstGeom prst="rect">
            <a:avLst/>
          </a:prstGeom>
          <a:solidFill>
            <a:srgbClr val="FCB017"/>
          </a:solidFill>
          <a:ln>
            <a:noFill/>
          </a:ln>
          <a:effectLst>
            <a:outerShdw blurRad="4000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7721640" y="6095880"/>
            <a:ext cx="3859560" cy="752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000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6">
            <a:alphaModFix/>
          </a:blip>
          <a:srcRect b="28589"/>
          <a:stretch/>
        </p:blipFill>
        <p:spPr>
          <a:xfrm>
            <a:off x="101520" y="3352680"/>
            <a:ext cx="2742120" cy="197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-101520" y="5257800"/>
            <a:ext cx="2945160" cy="53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03040" y="5666760"/>
            <a:ext cx="253908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4368960" y="6596280"/>
            <a:ext cx="7822080" cy="25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1100" b="0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15"/>
          <p:cNvGrpSpPr/>
          <p:nvPr/>
        </p:nvGrpSpPr>
        <p:grpSpPr>
          <a:xfrm>
            <a:off x="2778480" y="6550560"/>
            <a:ext cx="9412560" cy="47520"/>
            <a:chOff x="2778480" y="6550560"/>
            <a:chExt cx="9412560" cy="47520"/>
          </a:xfrm>
        </p:grpSpPr>
        <p:sp>
          <p:nvSpPr>
            <p:cNvPr id="83" name="Google Shape;83;p15"/>
            <p:cNvSpPr/>
            <p:nvPr/>
          </p:nvSpPr>
          <p:spPr>
            <a:xfrm>
              <a:off x="6174000" y="6550560"/>
              <a:ext cx="3103560" cy="4752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9210600" y="6550560"/>
              <a:ext cx="2980440" cy="4464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778480" y="6550560"/>
              <a:ext cx="3439800" cy="4752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6" name="Google Shape;86;p15"/>
          <p:cNvPicPr preferRelativeResize="0"/>
          <p:nvPr/>
        </p:nvPicPr>
        <p:blipFill rotWithShape="1">
          <a:blip r:embed="rId16">
            <a:alphaModFix/>
          </a:blip>
          <a:srcRect l="1916" b="5315"/>
          <a:stretch/>
        </p:blipFill>
        <p:spPr>
          <a:xfrm>
            <a:off x="8839080" y="0"/>
            <a:ext cx="2923200" cy="691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5"/>
          <p:cNvGrpSpPr/>
          <p:nvPr/>
        </p:nvGrpSpPr>
        <p:grpSpPr>
          <a:xfrm>
            <a:off x="2844720" y="6553080"/>
            <a:ext cx="9345960" cy="44640"/>
            <a:chOff x="2844720" y="6553080"/>
            <a:chExt cx="9345960" cy="44640"/>
          </a:xfrm>
        </p:grpSpPr>
        <p:sp>
          <p:nvSpPr>
            <p:cNvPr id="88" name="Google Shape;88;p15"/>
            <p:cNvSpPr/>
            <p:nvPr/>
          </p:nvSpPr>
          <p:spPr>
            <a:xfrm>
              <a:off x="5994360" y="65530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44720" y="65530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9087120" y="65530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0" y="1295280"/>
            <a:ext cx="9345960" cy="44640"/>
            <a:chOff x="0" y="1295280"/>
            <a:chExt cx="9345960" cy="44640"/>
          </a:xfrm>
        </p:grpSpPr>
        <p:sp>
          <p:nvSpPr>
            <p:cNvPr id="92" name="Google Shape;92;p15"/>
            <p:cNvSpPr/>
            <p:nvPr/>
          </p:nvSpPr>
          <p:spPr>
            <a:xfrm>
              <a:off x="3149640" y="12952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12952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6242400" y="12952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dist="2304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2842749" y="5313950"/>
            <a:ext cx="6324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600" dirty="0"/>
              <a:t>NAME</a:t>
            </a:r>
            <a:r>
              <a:rPr lang="en-IN" sz="16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IN" sz="1600" dirty="0"/>
              <a:t>ID) - Deepanshu Jain (2022B2A81582P)</a:t>
            </a:r>
            <a:endParaRPr sz="1600" dirty="0"/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600" dirty="0"/>
              <a:t>                   -Yash Jindal (2022B2A81117P)</a:t>
            </a: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600" dirty="0"/>
              <a:t>	   - Devansh Mangal (2022B2A31345P)</a:t>
            </a: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600" dirty="0"/>
              <a:t>	   - Anirudh Patil (2023A4PS0468P)</a:t>
            </a:r>
            <a:endParaRPr sz="1600" dirty="0"/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600" dirty="0"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dirty="0"/>
          </a:p>
        </p:txBody>
      </p:sp>
      <p:sp>
        <p:nvSpPr>
          <p:cNvPr id="169" name="Google Shape;169;p30"/>
          <p:cNvSpPr txBox="1"/>
          <p:nvPr/>
        </p:nvSpPr>
        <p:spPr>
          <a:xfrm>
            <a:off x="2690349" y="3982383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 dirty="0">
                <a:solidFill>
                  <a:schemeClr val="lt1"/>
                </a:solidFill>
              </a:rPr>
              <a:t>CR3DT:Camera–RADAR 3D Detection and Tracking</a:t>
            </a:r>
            <a:endParaRPr sz="2100" b="1" i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2743200" y="3623763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 b="1" dirty="0">
                <a:solidFill>
                  <a:schemeClr val="lt1"/>
                </a:solidFill>
              </a:rPr>
              <a:t>IOT PROJECT</a:t>
            </a:r>
            <a:endParaRPr sz="1300" dirty="0"/>
          </a:p>
        </p:txBody>
      </p:sp>
      <p:sp>
        <p:nvSpPr>
          <p:cNvPr id="171" name="Google Shape;171;p30"/>
          <p:cNvSpPr txBox="1"/>
          <p:nvPr/>
        </p:nvSpPr>
        <p:spPr>
          <a:xfrm>
            <a:off x="10178283" y="0"/>
            <a:ext cx="19543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Date:18</a:t>
            </a:r>
            <a:r>
              <a:rPr lang="en-IN" sz="1800">
                <a:solidFill>
                  <a:schemeClr val="lt1"/>
                </a:solidFill>
              </a:rPr>
              <a:t>-11-25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sz="4000" dirty="0">
                <a:solidFill>
                  <a:schemeClr val="accent5">
                    <a:lumMod val="75000"/>
                  </a:schemeClr>
                </a:solidFill>
              </a:rPr>
              <a:t>Aim</a:t>
            </a:r>
            <a:endParaRPr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406400" y="2011662"/>
            <a:ext cx="10501200" cy="3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/>
              <a:t>To reproduce, analyze, and understand the CR3DT (Camera–RADAR Fusion) architecture for 3D object detection and tracking.</a:t>
            </a:r>
            <a:br>
              <a:rPr lang="en-IN" sz="1800"/>
            </a:b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/>
              <a:t>To implement the official CR3DT pipeline using the provided codebase and dataset.</a:t>
            </a:r>
            <a:br>
              <a:rPr lang="en-IN" sz="1800"/>
            </a:b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/>
              <a:t>To evaluate detection/tracking performance and compare it with reported baseline results.</a:t>
            </a:r>
            <a:br>
              <a:rPr lang="en-IN" sz="1800"/>
            </a:b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/>
              <a:t>To identify hardware/software limitations during real-world implementation.</a:t>
            </a:r>
            <a:br>
              <a:rPr lang="en-IN" sz="1800"/>
            </a:br>
            <a:endParaRPr sz="18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800"/>
              <a:t>To propose feasible architectural and engineering improvements to enhance portability, accuracy, and performance.</a:t>
            </a:r>
            <a:br>
              <a:rPr lang="en-I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Introduction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406400" y="1675002"/>
            <a:ext cx="10345800" cy="26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3D perception is essential for reliable object detection and tracking in autonomous driving.</a:t>
            </a:r>
            <a:br>
              <a:rPr lang="en-I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Cameras offer rich visual and semantic information; RADAR provides accurate range and velocity.</a:t>
            </a:r>
            <a:br>
              <a:rPr lang="en-I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Combined Camera–RADAR fusion is </a:t>
            </a:r>
            <a:r>
              <a:rPr lang="en-IN" sz="1900" b="1">
                <a:solidFill>
                  <a:schemeClr val="dk1"/>
                </a:solidFill>
              </a:rPr>
              <a:t>significantly cheaper than LiDAR</a:t>
            </a:r>
            <a:r>
              <a:rPr lang="en-IN" sz="1900">
                <a:solidFill>
                  <a:schemeClr val="dk1"/>
                </a:solidFill>
              </a:rPr>
              <a:t>, while still delivering strong 3D performance.</a:t>
            </a:r>
            <a:br>
              <a:rPr lang="en-I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CR3DT integrates both modalities in BEV space to enhance accuracy and tracking stability.</a:t>
            </a:r>
            <a:br>
              <a:rPr lang="en-I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Objective: reproduce the CR3DT baseline, analyze the architecture, and evaluate our improvements.</a:t>
            </a:r>
            <a:endParaRPr sz="19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1E3A8A"/>
                </a:solidFill>
              </a:rPr>
              <a:t>Model Inputs I: Camera</a:t>
            </a:r>
            <a:endParaRPr sz="3600" b="1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65750" y="1604525"/>
            <a:ext cx="11516400" cy="49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50" b="1" dirty="0">
                <a:solidFill>
                  <a:schemeClr val="tx1"/>
                </a:solidFill>
                <a:highlight>
                  <a:srgbClr val="FFFFFF"/>
                </a:highlight>
              </a:rPr>
              <a:t>Processing 6 RGB cameras for image-based perception</a:t>
            </a:r>
            <a:r>
              <a:rPr lang="en-IN" sz="1650" dirty="0">
                <a:solidFill>
                  <a:schemeClr val="tx1"/>
                </a:solidFill>
                <a:highlight>
                  <a:srgbClr val="FFFFFF"/>
                </a:highlight>
              </a:rPr>
              <a:t>.</a:t>
            </a:r>
            <a:endParaRPr sz="165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5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tx1"/>
                </a:solidFill>
              </a:rPr>
              <a:t>    </a:t>
            </a:r>
            <a:endParaRPr sz="15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6266150" y="2104375"/>
            <a:ext cx="49008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None/>
            </a:pPr>
            <a:r>
              <a:rPr lang="en-IN" sz="2400" b="1" dirty="0">
                <a:solidFill>
                  <a:schemeClr val="tx1"/>
                </a:solidFill>
              </a:rPr>
              <a:t>Camera Model &amp; Processing</a:t>
            </a:r>
            <a:endParaRPr sz="24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None/>
            </a:pPr>
            <a:endParaRPr sz="15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Intrinsics:</a:t>
            </a:r>
            <a:r>
              <a:rPr lang="en-IN" sz="1800" dirty="0">
                <a:solidFill>
                  <a:schemeClr val="tx1"/>
                </a:solidFill>
              </a:rPr>
              <a:t> Fixed 3×3 matrix (lens/sensor properties) used for 3D projection.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 err="1">
                <a:solidFill>
                  <a:schemeClr val="tx1"/>
                </a:solidFill>
              </a:rPr>
              <a:t>Extrinsics</a:t>
            </a:r>
            <a:r>
              <a:rPr lang="en-IN" sz="1800" b="1" dirty="0">
                <a:solidFill>
                  <a:schemeClr val="tx1"/>
                </a:solidFill>
              </a:rPr>
              <a:t>:</a:t>
            </a:r>
            <a:r>
              <a:rPr lang="en-IN" sz="1800" dirty="0">
                <a:solidFill>
                  <a:schemeClr val="tx1"/>
                </a:solidFill>
              </a:rPr>
              <a:t> Variable pose (camera position/orientation) used to map to the ego-vehicle frame.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Next Step:</a:t>
            </a:r>
            <a:r>
              <a:rPr lang="en-IN" sz="1800" dirty="0">
                <a:solidFill>
                  <a:schemeClr val="tx1"/>
                </a:solidFill>
              </a:rPr>
              <a:t> Tensors are fed into a 2D CNN (e.g., </a:t>
            </a:r>
            <a:r>
              <a:rPr lang="en-IN" sz="1800" dirty="0" err="1">
                <a:solidFill>
                  <a:schemeClr val="tx1"/>
                </a:solidFill>
              </a:rPr>
              <a:t>ResNet</a:t>
            </a:r>
            <a:r>
              <a:rPr lang="en-IN" sz="1800" dirty="0">
                <a:solidFill>
                  <a:schemeClr val="tx1"/>
                </a:solidFill>
              </a:rPr>
              <a:t>) for feature extraction.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457200" y="2104375"/>
            <a:ext cx="5041800" cy="4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solidFill>
                  <a:schemeClr val="tx1"/>
                </a:solidFill>
              </a:rPr>
              <a:t>Input &amp; Resolution</a:t>
            </a:r>
            <a:endParaRPr sz="24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Input Source:</a:t>
            </a:r>
            <a:r>
              <a:rPr lang="en-IN" sz="1800" dirty="0">
                <a:solidFill>
                  <a:schemeClr val="tx1"/>
                </a:solidFill>
              </a:rPr>
              <a:t> 6x RGB Cameras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Resolution (W×H):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704 × 256</a:t>
            </a:r>
            <a:endParaRPr sz="18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Raw Tensor (HWC):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256,704,3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Total Batch:</a:t>
            </a:r>
            <a:r>
              <a:rPr lang="en-IN" sz="1800" dirty="0">
                <a:solidFill>
                  <a:schemeClr val="tx1"/>
                </a:solidFill>
              </a:rPr>
              <a:t> 6 such tensors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609750" y="769749"/>
            <a:ext cx="10972500" cy="63660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Model Inputs II: Radar Pipeline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609475" y="1604526"/>
            <a:ext cx="10972500" cy="49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50" b="1" dirty="0">
                <a:solidFill>
                  <a:schemeClr val="tx1"/>
                </a:solidFill>
                <a:highlight>
                  <a:srgbClr val="FFFFFF"/>
                </a:highlight>
              </a:rPr>
              <a:t>Converting sparse 3D point clouds into a dense 2D Bird's-Eye-View (BEV) map.</a:t>
            </a:r>
            <a:endParaRPr sz="185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50" dirty="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707725" y="2220250"/>
            <a:ext cx="3115800" cy="3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>
                <a:solidFill>
                  <a:schemeClr val="tx1"/>
                </a:solidFill>
              </a:rPr>
              <a:t>1. Raw Point Cloud</a:t>
            </a:r>
            <a:endParaRPr sz="1800" b="1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tx1"/>
                </a:solidFill>
              </a:rPr>
              <a:t>Data from 5 sensors (current + 4 past sweeps). Each point is an </a:t>
            </a:r>
            <a:r>
              <a:rPr lang="en-IN" sz="2000" b="1">
                <a:solidFill>
                  <a:schemeClr val="tx1"/>
                </a:solidFill>
              </a:rPr>
              <a:t>18-feature vector</a:t>
            </a:r>
            <a:r>
              <a:rPr lang="en-IN" sz="2000">
                <a:solidFill>
                  <a:schemeClr val="tx1"/>
                </a:solidFill>
              </a:rPr>
              <a:t> (3D coords, velocity, reflectivity, etc.).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4136725" y="2220250"/>
            <a:ext cx="3115800" cy="3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solidFill>
                  <a:schemeClr val="tx1"/>
                </a:solidFill>
              </a:rPr>
              <a:t>2. Transform &amp; Filter</a:t>
            </a:r>
            <a:endParaRPr sz="2000" b="1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tx1"/>
                </a:solidFill>
              </a:rPr>
              <a:t>All points are transformed into the ego-vehicle's coordinate frame. Filtered to a</a:t>
            </a:r>
            <a:endParaRPr sz="200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solidFill>
                  <a:schemeClr val="tx1"/>
                </a:solidFill>
              </a:rPr>
              <a:t>102.4m×102.4m</a:t>
            </a:r>
            <a:endParaRPr sz="2000" b="1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tx1"/>
                </a:solidFill>
                <a:highlight>
                  <a:srgbClr val="F8FAFC"/>
                </a:highlight>
              </a:rPr>
              <a:t>area.</a:t>
            </a:r>
            <a:endParaRPr sz="2000" b="1">
              <a:solidFill>
                <a:schemeClr val="tx1"/>
              </a:solidFill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7941500" y="2241125"/>
            <a:ext cx="3319500" cy="3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>
                <a:solidFill>
                  <a:schemeClr val="tx1"/>
                </a:solidFill>
              </a:rPr>
              <a:t>3. Pillar Aggregation</a:t>
            </a:r>
            <a:endParaRPr sz="1800" b="1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tx1"/>
                </a:solidFill>
              </a:rPr>
              <a:t>Area is divided into a</a:t>
            </a:r>
            <a:r>
              <a:rPr lang="en-IN" sz="2000">
                <a:solidFill>
                  <a:schemeClr val="tx1"/>
                </a:solidFill>
              </a:rPr>
              <a:t> </a:t>
            </a:r>
            <a:r>
              <a:rPr lang="en-IN" sz="2000" b="1">
                <a:solidFill>
                  <a:schemeClr val="tx1"/>
                </a:solidFill>
              </a:rPr>
              <a:t>128×128</a:t>
            </a:r>
            <a:r>
              <a:rPr lang="en-IN" sz="1800" b="1">
                <a:solidFill>
                  <a:schemeClr val="tx1"/>
                </a:solidFill>
              </a:rPr>
              <a:t> </a:t>
            </a:r>
            <a:r>
              <a:rPr lang="en-IN" sz="1800">
                <a:solidFill>
                  <a:schemeClr val="tx1"/>
                </a:solidFill>
                <a:highlight>
                  <a:srgbClr val="F8FAFC"/>
                </a:highlight>
              </a:rPr>
              <a:t>grid (0.8m cells). All points within a vertical "pillar" (cell) are averaged. </a:t>
            </a:r>
            <a:r>
              <a:rPr lang="en-IN" sz="1800">
                <a:solidFill>
                  <a:schemeClr val="tx1"/>
                </a:solidFill>
              </a:rPr>
              <a:t>Generates a</a:t>
            </a:r>
            <a:r>
              <a:rPr lang="en-IN" sz="1800" b="1">
                <a:solidFill>
                  <a:schemeClr val="tx1"/>
                </a:solidFill>
              </a:rPr>
              <a:t> (18,128,128)</a:t>
            </a:r>
            <a:endParaRPr sz="1800" b="1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tx1"/>
                </a:solidFill>
                <a:highlight>
                  <a:srgbClr val="F8FAFC"/>
                </a:highlight>
              </a:rPr>
              <a:t>dense feature map, perfectly suited for a 2D CNN.</a:t>
            </a:r>
            <a:endParaRPr sz="1800">
              <a:solidFill>
                <a:schemeClr val="tx1"/>
              </a:solidFill>
              <a:highlight>
                <a:srgbClr val="F8FAFC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/>
          </p:nvPr>
        </p:nvSpPr>
        <p:spPr>
          <a:xfrm>
            <a:off x="609750" y="294475"/>
            <a:ext cx="109725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CR3DT Architecture Overview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9" name="Google Shape;20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475" y="1604525"/>
            <a:ext cx="7562600" cy="49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5"/>
          <p:cNvSpPr txBox="1"/>
          <p:nvPr/>
        </p:nvSpPr>
        <p:spPr>
          <a:xfrm>
            <a:off x="128400" y="1521900"/>
            <a:ext cx="4071000" cy="49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0D9488"/>
                </a:solidFill>
                <a:highlight>
                  <a:srgbClr val="FFFFFF"/>
                </a:highlight>
              </a:rPr>
              <a:t>Two-Pipeline Approach</a:t>
            </a:r>
            <a:endParaRPr sz="1800" b="1" dirty="0">
              <a:solidFill>
                <a:srgbClr val="0D948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475569"/>
                </a:solidFill>
                <a:highlight>
                  <a:srgbClr val="FFFFFF"/>
                </a:highlight>
              </a:rPr>
              <a:t> </a:t>
            </a:r>
            <a:r>
              <a:rPr lang="en-IN" sz="1800" b="1" dirty="0">
                <a:solidFill>
                  <a:schemeClr val="tx1"/>
                </a:solidFill>
                <a:highlight>
                  <a:srgbClr val="FFFFFF"/>
                </a:highlight>
              </a:rPr>
              <a:t>Detection </a:t>
            </a:r>
            <a:r>
              <a:rPr lang="en-IN" sz="1800" b="1" dirty="0" err="1">
                <a:solidFill>
                  <a:schemeClr val="tx1"/>
                </a:solidFill>
                <a:highlight>
                  <a:srgbClr val="FFFFFF"/>
                </a:highlight>
              </a:rPr>
              <a:t>Pipeline:</a:t>
            </a:r>
            <a:r>
              <a:rPr lang="en-IN" sz="1800" dirty="0" err="1">
                <a:solidFill>
                  <a:schemeClr val="tx1"/>
                </a:solidFill>
                <a:highlight>
                  <a:srgbClr val="FFFFFF"/>
                </a:highlight>
              </a:rPr>
              <a:t>Uses</a:t>
            </a:r>
            <a:r>
              <a:rPr lang="en-IN" sz="1800" dirty="0">
                <a:solidFill>
                  <a:schemeClr val="tx1"/>
                </a:solidFill>
                <a:highlight>
                  <a:srgbClr val="FFFFFF"/>
                </a:highlight>
              </a:rPr>
              <a:t> 6 images and a "View Transformer" (LSS) to create a BEV feature map for 3D detection.</a:t>
            </a:r>
            <a:endParaRPr sz="18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tx1"/>
                </a:solidFill>
                <a:highlight>
                  <a:srgbClr val="FFFFFF"/>
                </a:highlight>
              </a:rPr>
              <a:t> Tracking </a:t>
            </a:r>
            <a:r>
              <a:rPr lang="en-IN" sz="1800" b="1" dirty="0" err="1">
                <a:solidFill>
                  <a:schemeClr val="tx1"/>
                </a:solidFill>
                <a:highlight>
                  <a:srgbClr val="FFFFFF"/>
                </a:highlight>
              </a:rPr>
              <a:t>Pipeline:</a:t>
            </a:r>
            <a:r>
              <a:rPr lang="en-IN" sz="1800" dirty="0" err="1">
                <a:solidFill>
                  <a:schemeClr val="tx1"/>
                </a:solidFill>
                <a:highlight>
                  <a:srgbClr val="FFFFFF"/>
                </a:highlight>
              </a:rPr>
              <a:t>Uses</a:t>
            </a:r>
            <a:r>
              <a:rPr lang="en-IN" sz="1800" dirty="0">
                <a:solidFill>
                  <a:schemeClr val="tx1"/>
                </a:solidFill>
                <a:highlight>
                  <a:srgbClr val="FFFFFF"/>
                </a:highlight>
              </a:rPr>
              <a:t> the processed RADAR point cloud and Kalman Filtering (CC-3D++) for robust 3D tracking</a:t>
            </a:r>
            <a:endParaRPr sz="180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tx1"/>
                </a:solidFill>
                <a:highlight>
                  <a:srgbClr val="FFFFFF"/>
                </a:highlight>
              </a:rPr>
              <a:t>Intermediate Fusion:</a:t>
            </a:r>
            <a:r>
              <a:rPr lang="en-IN" sz="1800" dirty="0">
                <a:solidFill>
                  <a:schemeClr val="tx1"/>
                </a:solidFill>
                <a:highlight>
                  <a:srgbClr val="FFFFFF"/>
                </a:highlight>
              </a:rPr>
              <a:t> Features from both pipelines are concatenated and fed to a "</a:t>
            </a:r>
            <a:r>
              <a:rPr lang="en-IN" sz="1800" dirty="0" err="1">
                <a:solidFill>
                  <a:schemeClr val="tx1"/>
                </a:solidFill>
                <a:highlight>
                  <a:srgbClr val="FFFFFF"/>
                </a:highlight>
              </a:rPr>
              <a:t>CenterHead</a:t>
            </a:r>
            <a:r>
              <a:rPr lang="en-IN" sz="1800" dirty="0">
                <a:solidFill>
                  <a:schemeClr val="tx1"/>
                </a:solidFill>
                <a:highlight>
                  <a:srgbClr val="FFFFFF"/>
                </a:highlight>
              </a:rPr>
              <a:t>" for the final 3D detection results.</a:t>
            </a:r>
            <a:endParaRPr sz="180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rgbClr val="47556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249355" y="210975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>
                <a:solidFill>
                  <a:srgbClr val="1E3A8A"/>
                </a:solidFill>
              </a:rPr>
              <a:t>DETECTION Pipeline: Key Inputs</a:t>
            </a:r>
            <a:endParaRPr sz="3600" b="1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6"/>
          <p:cNvSpPr txBox="1"/>
          <p:nvPr/>
        </p:nvSpPr>
        <p:spPr>
          <a:xfrm>
            <a:off x="34450" y="1399775"/>
            <a:ext cx="5981100" cy="51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tx1"/>
                </a:solidFill>
              </a:rPr>
              <a:t>Primary Inputs</a:t>
            </a:r>
            <a:endParaRPr sz="18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imgs</a:t>
            </a:r>
            <a:r>
              <a:rPr lang="en-IN" sz="1800" dirty="0">
                <a:solidFill>
                  <a:schemeClr val="tx1"/>
                </a:solidFill>
              </a:rPr>
              <a:t> 6x RGB Images [B, 6, 3, H, W]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intrins</a:t>
            </a:r>
            <a:r>
              <a:rPr lang="en-IN" sz="1800" dirty="0">
                <a:solidFill>
                  <a:schemeClr val="tx1"/>
                </a:solidFill>
              </a:rPr>
              <a:t> 3x3 Camera Intrinsic Matrices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sensor2ego</a:t>
            </a:r>
            <a:r>
              <a:rPr lang="en-IN" sz="1800" dirty="0">
                <a:solidFill>
                  <a:schemeClr val="tx1"/>
                </a:solidFill>
              </a:rPr>
              <a:t> (Sensor -&gt; Ego Frame)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ego2global</a:t>
            </a:r>
            <a:r>
              <a:rPr lang="en-IN" sz="1800" dirty="0">
                <a:solidFill>
                  <a:schemeClr val="tx1"/>
                </a:solidFill>
              </a:rPr>
              <a:t>(Ego -&gt; Global Frame)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tx1"/>
                </a:solidFill>
              </a:rPr>
              <a:t>ResNet-50 </a:t>
            </a:r>
            <a:r>
              <a:rPr lang="en-IN" sz="1800" b="1" dirty="0" err="1">
                <a:solidFill>
                  <a:schemeClr val="tx1"/>
                </a:solidFill>
              </a:rPr>
              <a:t>backbone:use</a:t>
            </a:r>
            <a:r>
              <a:rPr lang="en-IN" sz="1800" b="1" dirty="0">
                <a:solidFill>
                  <a:schemeClr val="tx1"/>
                </a:solidFill>
              </a:rPr>
              <a:t> for feature extraction  </a:t>
            </a:r>
            <a:r>
              <a:rPr lang="en-IN" sz="1800" dirty="0">
                <a:solidFill>
                  <a:schemeClr val="tx1"/>
                </a:solidFill>
              </a:rPr>
              <a:t>Per-camera 2D feature maps: </a:t>
            </a:r>
            <a:r>
              <a:rPr lang="en-IN" sz="1800" dirty="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feat_2d</a:t>
            </a:r>
            <a:r>
              <a:rPr lang="en-IN" sz="1800" dirty="0">
                <a:solidFill>
                  <a:schemeClr val="tx1"/>
                </a:solidFill>
              </a:rPr>
              <a:t> ≈ </a:t>
            </a:r>
            <a:r>
              <a:rPr lang="en-IN" sz="1800" dirty="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[6, </a:t>
            </a:r>
            <a:r>
              <a:rPr lang="en-IN" sz="1800" dirty="0" err="1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C_back</a:t>
            </a:r>
            <a:r>
              <a:rPr lang="en-IN" sz="1800" dirty="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, H', W']</a:t>
            </a:r>
            <a:r>
              <a:rPr lang="en-IN" sz="1800" dirty="0">
                <a:solidFill>
                  <a:schemeClr val="tx1"/>
                </a:solidFill>
              </a:rPr>
              <a:t>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6096000" y="1481025"/>
            <a:ext cx="6129300" cy="5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>
                <a:solidFill>
                  <a:schemeClr val="tx1"/>
                </a:solidFill>
              </a:rPr>
              <a:t>Augmentation (BDA) Inputs</a:t>
            </a:r>
            <a:endParaRPr sz="1800" b="1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post_rot</a:t>
            </a:r>
            <a:r>
              <a:rPr lang="en-IN" sz="1800">
                <a:solidFill>
                  <a:schemeClr val="tx1"/>
                </a:solidFill>
              </a:rPr>
              <a:t> Post-Rotation Matrix</a:t>
            </a:r>
            <a:endParaRPr sz="180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post_trans</a:t>
            </a:r>
            <a:r>
              <a:rPr lang="en-IN" sz="1800">
                <a:solidFill>
                  <a:schemeClr val="tx1"/>
                </a:solidFill>
              </a:rPr>
              <a:t> Post-Translation Vector</a:t>
            </a:r>
            <a:endParaRPr sz="180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bda</a:t>
            </a:r>
            <a:r>
              <a:rPr lang="en-IN" sz="1800">
                <a:solidFill>
                  <a:schemeClr val="tx1"/>
                </a:solidFill>
              </a:rPr>
              <a:t> (BEV Data Augmentation)</a:t>
            </a:r>
            <a:endParaRPr sz="180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tx1"/>
                </a:solidFill>
              </a:rPr>
              <a:t>These are applied to the BEV feature map *after* the "Splat" step to simulate vehicle movement and improve robustness.</a:t>
            </a:r>
            <a:endParaRPr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The LSS Process: Lift, Splat, Augment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65750" y="1418525"/>
            <a:ext cx="4149300" cy="51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</a:rPr>
              <a:t>1. LIFT</a:t>
            </a:r>
            <a:endParaRPr sz="1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50" dirty="0">
                <a:solidFill>
                  <a:schemeClr val="tx1"/>
                </a:solidFill>
              </a:rPr>
              <a:t>Generates a depth probability distribution for each pixel (using 1x1 Conv + </a:t>
            </a:r>
            <a:r>
              <a:rPr lang="en-IN" sz="1850" dirty="0" err="1">
                <a:solidFill>
                  <a:schemeClr val="tx1"/>
                </a:solidFill>
              </a:rPr>
              <a:t>Softmax</a:t>
            </a:r>
            <a:r>
              <a:rPr lang="en-IN" sz="1850" dirty="0">
                <a:solidFill>
                  <a:schemeClr val="tx1"/>
                </a:solidFill>
              </a:rPr>
              <a:t>). Uses </a:t>
            </a:r>
            <a:r>
              <a:rPr lang="en-IN" sz="1850" dirty="0" err="1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intrinsc</a:t>
            </a:r>
            <a:r>
              <a:rPr lang="en-IN" sz="1850" dirty="0">
                <a:solidFill>
                  <a:schemeClr val="tx1"/>
                </a:solidFill>
              </a:rPr>
              <a:t> and </a:t>
            </a:r>
            <a:r>
              <a:rPr lang="en-IN" sz="1850" dirty="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sensor2ego</a:t>
            </a:r>
            <a:r>
              <a:rPr lang="en-IN" sz="1850" dirty="0">
                <a:solidFill>
                  <a:schemeClr val="tx1"/>
                </a:solidFill>
              </a:rPr>
              <a:t> to project 2D features into the ego-vehicle frame.</a:t>
            </a:r>
            <a:endParaRPr sz="185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4355750" y="1418400"/>
            <a:ext cx="4149300" cy="51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</a:rPr>
              <a:t>2. SPLAT</a:t>
            </a:r>
            <a:endParaRPr sz="1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The 3D feature cloud is "splatted" (summed/averaged) into a dense 2D BEV grid (e.g., </a:t>
            </a:r>
            <a:r>
              <a:rPr lang="en-IN" sz="1800" dirty="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128x128</a:t>
            </a:r>
            <a:r>
              <a:rPr lang="en-IN" sz="1800" dirty="0">
                <a:solidFill>
                  <a:schemeClr val="tx1"/>
                </a:solidFill>
              </a:rPr>
              <a:t>). This creates the primary BEV feature map.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8614775" y="1325425"/>
            <a:ext cx="3491700" cy="51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</a:rPr>
              <a:t>3. AUGMENT (BDA)</a:t>
            </a:r>
            <a:endParaRPr sz="1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Applies the </a:t>
            </a:r>
            <a:r>
              <a:rPr lang="en-IN" sz="1800" dirty="0" err="1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post_rot</a:t>
            </a:r>
            <a:r>
              <a:rPr lang="en-IN" sz="1800" dirty="0">
                <a:solidFill>
                  <a:schemeClr val="tx1"/>
                </a:solidFill>
              </a:rPr>
              <a:t> and </a:t>
            </a:r>
            <a:r>
              <a:rPr lang="en-IN" sz="1800" dirty="0" err="1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post_trans</a:t>
            </a:r>
            <a:r>
              <a:rPr lang="en-IN" sz="1800" dirty="0">
                <a:solidFill>
                  <a:schemeClr val="tx1"/>
                </a:solidFill>
              </a:rPr>
              <a:t> matrices directly to the BEV feature map. This BEV Data Augmentation (BDA) is critical for training.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800" dirty="0">
              <a:solidFill>
                <a:schemeClr val="tx1"/>
              </a:solidFill>
            </a:endParaRPr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100" y="3866225"/>
            <a:ext cx="5648325" cy="25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Dual-Stage RADAR Fusion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38"/>
          <p:cNvSpPr txBox="1">
            <a:spLocks noGrp="1"/>
          </p:cNvSpPr>
          <p:nvPr>
            <p:ph type="body" idx="1"/>
          </p:nvPr>
        </p:nvSpPr>
        <p:spPr>
          <a:xfrm>
            <a:off x="0" y="1418400"/>
            <a:ext cx="12192000" cy="508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50" dirty="0">
                <a:solidFill>
                  <a:schemeClr val="tx1"/>
                </a:solidFill>
                <a:highlight>
                  <a:srgbClr val="FFFFFF"/>
                </a:highlight>
              </a:rPr>
              <a:t>Fusing camera and radar features before and after the BEV encoder.</a:t>
            </a:r>
            <a:endParaRPr sz="185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50" dirty="0">
              <a:solidFill>
                <a:srgbClr val="475569"/>
              </a:solidFill>
              <a:highlight>
                <a:srgbClr val="FFFFFF"/>
              </a:highlight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101075" y="1854450"/>
            <a:ext cx="4218300" cy="4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 dirty="0">
                <a:solidFill>
                  <a:srgbClr val="1E3A8A"/>
                </a:solidFill>
              </a:rPr>
              <a:t>1. Intermediate Fusion</a:t>
            </a:r>
            <a:endParaRPr sz="16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dirty="0">
                <a:solidFill>
                  <a:schemeClr val="tx1"/>
                </a:solidFill>
              </a:rPr>
              <a:t>Camera BEV features (from LSS) are concatenated with the Radar BEV features.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None/>
            </a:pPr>
            <a:r>
              <a:rPr lang="en-IN" sz="16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cam_bev</a:t>
            </a:r>
            <a:r>
              <a:rPr lang="en-IN" sz="1600" dirty="0">
                <a:solidFill>
                  <a:schemeClr val="tx1"/>
                </a:solidFill>
              </a:rPr>
              <a:t>: </a:t>
            </a:r>
            <a:r>
              <a:rPr lang="en-IN" sz="16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64, 128, 128]</a:t>
            </a:r>
            <a:endParaRPr sz="16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None/>
            </a:pPr>
            <a:r>
              <a:rPr lang="en-IN" sz="1600" b="1" dirty="0">
                <a:solidFill>
                  <a:schemeClr val="tx1"/>
                </a:solidFill>
              </a:rPr>
              <a:t>+</a:t>
            </a:r>
            <a:endParaRPr sz="16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None/>
            </a:pPr>
            <a:r>
              <a:rPr lang="en-IN" sz="16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radar_bev</a:t>
            </a:r>
            <a:r>
              <a:rPr lang="en-IN" sz="1600" dirty="0">
                <a:solidFill>
                  <a:schemeClr val="tx1"/>
                </a:solidFill>
              </a:rPr>
              <a:t>: </a:t>
            </a:r>
            <a:r>
              <a:rPr lang="en-IN" sz="16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18, 128, 128]</a:t>
            </a:r>
            <a:endParaRPr sz="16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None/>
            </a:pPr>
            <a:r>
              <a:rPr lang="en-IN" sz="1600" b="1" dirty="0">
                <a:solidFill>
                  <a:schemeClr val="tx1"/>
                </a:solidFill>
              </a:rPr>
              <a:t>→</a:t>
            </a:r>
            <a:endParaRPr sz="16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bev_fused_1</a:t>
            </a:r>
            <a:r>
              <a:rPr lang="en-IN" sz="1600" b="1" dirty="0">
                <a:solidFill>
                  <a:schemeClr val="tx1"/>
                </a:solidFill>
              </a:rPr>
              <a:t>: </a:t>
            </a:r>
            <a:r>
              <a:rPr lang="en-IN" sz="1600" b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82, 128, 128]</a:t>
            </a:r>
            <a:endParaRPr sz="1600" b="1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i="1" dirty="0">
                <a:solidFill>
                  <a:schemeClr val="tx1"/>
                </a:solidFill>
              </a:rPr>
              <a:t> Location: Occurs inside </a:t>
            </a:r>
            <a:r>
              <a:rPr lang="en-IN" sz="1600" i="1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extract_feat</a:t>
            </a:r>
            <a:r>
              <a:rPr lang="en-IN" sz="1600" i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600" i="1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37" name="Google Shape;237;p38"/>
          <p:cNvSpPr txBox="1"/>
          <p:nvPr/>
        </p:nvSpPr>
        <p:spPr>
          <a:xfrm>
            <a:off x="4358175" y="1854450"/>
            <a:ext cx="3965400" cy="4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2. BEV Encoder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The fused map is passed through a </a:t>
            </a:r>
            <a:r>
              <a:rPr lang="en-IN" sz="1800" dirty="0" err="1">
                <a:solidFill>
                  <a:schemeClr val="tx1"/>
                </a:solidFill>
              </a:rPr>
              <a:t>ResNet</a:t>
            </a:r>
            <a:r>
              <a:rPr lang="en-IN" sz="1800" dirty="0">
                <a:solidFill>
                  <a:schemeClr val="tx1"/>
                </a:solidFill>
              </a:rPr>
              <a:t>-based encoder to learn high-level spatial features.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>
                <a:solidFill>
                  <a:schemeClr val="tx1"/>
                </a:solidFill>
              </a:rPr>
              <a:t>Input: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82, 128, 128]</a:t>
            </a:r>
            <a:endParaRPr sz="18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→</a:t>
            </a:r>
            <a:endParaRPr sz="1800"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bev_encoded</a:t>
            </a:r>
            <a:r>
              <a:rPr lang="en-IN" sz="1800" b="1" dirty="0">
                <a:solidFill>
                  <a:schemeClr val="tx1"/>
                </a:solidFill>
              </a:rPr>
              <a:t>: </a:t>
            </a:r>
            <a:r>
              <a:rPr lang="en-IN" sz="1800" b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256, 128, 128]</a:t>
            </a:r>
            <a:endParaRPr sz="1800" b="1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8362375" y="1568250"/>
            <a:ext cx="3635100" cy="49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dirty="0">
                <a:solidFill>
                  <a:srgbClr val="1E3A8A"/>
                </a:solidFill>
              </a:rPr>
              <a:t>3. Residual Fusion</a:t>
            </a:r>
            <a:endParaRPr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dirty="0">
                <a:solidFill>
                  <a:schemeClr val="tx1"/>
                </a:solidFill>
              </a:rPr>
              <a:t>The </a:t>
            </a:r>
            <a:r>
              <a:rPr lang="en-IN" b="1" dirty="0">
                <a:solidFill>
                  <a:schemeClr val="tx1"/>
                </a:solidFill>
              </a:rPr>
              <a:t>original</a:t>
            </a:r>
            <a:r>
              <a:rPr lang="en-IN" dirty="0">
                <a:solidFill>
                  <a:schemeClr val="tx1"/>
                </a:solidFill>
              </a:rPr>
              <a:t> Radar map is concatenated again to the encoded features (a residual connection) to re-inject raw data.</a:t>
            </a:r>
            <a:endParaRPr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None/>
            </a:pPr>
            <a:r>
              <a:rPr lang="en-IN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bev_encoded</a:t>
            </a:r>
            <a:r>
              <a:rPr lang="en-IN" dirty="0">
                <a:solidFill>
                  <a:schemeClr val="tx1"/>
                </a:solidFill>
              </a:rPr>
              <a:t>: </a:t>
            </a:r>
            <a:r>
              <a:rPr lang="en-IN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256, 128, 128]</a:t>
            </a:r>
            <a:endParaRPr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None/>
            </a:pPr>
            <a:r>
              <a:rPr lang="en-IN" b="1" dirty="0">
                <a:solidFill>
                  <a:schemeClr val="tx1"/>
                </a:solidFill>
              </a:rPr>
              <a:t>+</a:t>
            </a:r>
            <a:endParaRPr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None/>
            </a:pPr>
            <a:r>
              <a:rPr lang="en-IN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radar_bev</a:t>
            </a:r>
            <a:r>
              <a:rPr lang="en-IN" dirty="0">
                <a:solidFill>
                  <a:schemeClr val="tx1"/>
                </a:solidFill>
              </a:rPr>
              <a:t>: </a:t>
            </a:r>
            <a:r>
              <a:rPr lang="en-IN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18, 128, 128]</a:t>
            </a:r>
            <a:endParaRPr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None/>
            </a:pPr>
            <a:r>
              <a:rPr lang="en-IN" b="1" dirty="0">
                <a:solidFill>
                  <a:schemeClr val="tx1"/>
                </a:solidFill>
              </a:rPr>
              <a:t>→</a:t>
            </a:r>
            <a:endParaRPr b="1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None/>
            </a:pPr>
            <a:r>
              <a:rPr lang="en-IN" b="1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bev_final</a:t>
            </a:r>
            <a:r>
              <a:rPr lang="en-IN" b="1" dirty="0">
                <a:solidFill>
                  <a:schemeClr val="tx1"/>
                </a:solidFill>
              </a:rPr>
              <a:t>: </a:t>
            </a:r>
            <a:r>
              <a:rPr lang="en-IN" b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274, 128, 128]</a:t>
            </a:r>
            <a:endParaRPr b="1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i="1" dirty="0">
                <a:solidFill>
                  <a:schemeClr val="tx1"/>
                </a:solidFill>
              </a:rPr>
              <a:t> Location: Occurs in </a:t>
            </a:r>
            <a:r>
              <a:rPr lang="en-IN" i="1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forward_train</a:t>
            </a:r>
            <a:r>
              <a:rPr lang="en-IN" i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IN" i="1" dirty="0">
                <a:solidFill>
                  <a:schemeClr val="tx1"/>
                </a:solidFill>
              </a:rPr>
              <a:t> &amp; </a:t>
            </a:r>
            <a:r>
              <a:rPr lang="en-IN" i="1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simple_test</a:t>
            </a:r>
            <a:r>
              <a:rPr lang="en-IN" i="1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i="1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>
            <a:spLocks noGrp="1"/>
          </p:cNvSpPr>
          <p:nvPr>
            <p:ph type="title"/>
          </p:nvPr>
        </p:nvSpPr>
        <p:spPr>
          <a:xfrm>
            <a:off x="609750" y="-141225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The Detection Head: CenterPoint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FFFFFF"/>
              </a:solidFill>
              <a:highlight>
                <a:srgbClr val="1B1C1D"/>
              </a:highlight>
            </a:endParaRPr>
          </a:p>
        </p:txBody>
      </p:sp>
      <p:sp>
        <p:nvSpPr>
          <p:cNvPr id="245" name="Google Shape;245;p39"/>
          <p:cNvSpPr txBox="1"/>
          <p:nvPr/>
        </p:nvSpPr>
        <p:spPr>
          <a:xfrm>
            <a:off x="103600" y="1447125"/>
            <a:ext cx="5882100" cy="50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Role in CR3DT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CR3DT performs all Camera-Radar fusion first. This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CenterPoint</a:t>
            </a:r>
            <a:r>
              <a:rPr lang="en-IN" sz="1800" dirty="0">
                <a:solidFill>
                  <a:schemeClr val="tx1"/>
                </a:solidFill>
              </a:rPr>
              <a:t> class takes the final fused BEV map as input: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>
                <a:solidFill>
                  <a:schemeClr val="tx1"/>
                </a:solidFill>
              </a:rPr>
              <a:t>Input: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[B, 274, 128, 128]</a:t>
            </a:r>
            <a:endParaRPr sz="18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dirty="0">
                <a:solidFill>
                  <a:schemeClr val="tx1"/>
                </a:solidFill>
              </a:rPr>
              <a:t>Output: Final 3D Bounding Boxes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The architecture itself is defined in 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centerpoint_head.py</a:t>
            </a:r>
            <a:r>
              <a:rPr lang="en-IN" sz="1800" dirty="0">
                <a:solidFill>
                  <a:schemeClr val="tx1"/>
                </a:solidFill>
              </a:rPr>
              <a:t>. This class manages how the head is used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5985700" y="1447125"/>
            <a:ext cx="6206400" cy="4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Class Responsibilities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This class is a wrapper that provides: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Training Logic:</a:t>
            </a:r>
            <a:r>
              <a:rPr lang="en-IN" sz="1800" dirty="0">
                <a:solidFill>
                  <a:schemeClr val="tx1"/>
                </a:solidFill>
              </a:rPr>
              <a:t> Calls the head and computes losses (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forward_pts_train</a:t>
            </a:r>
            <a:r>
              <a:rPr lang="en-IN" sz="1800" dirty="0">
                <a:solidFill>
                  <a:schemeClr val="tx1"/>
                </a:solidFill>
              </a:rPr>
              <a:t>).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Inference Logic:</a:t>
            </a:r>
            <a:r>
              <a:rPr lang="en-IN" sz="1800" dirty="0">
                <a:solidFill>
                  <a:schemeClr val="tx1"/>
                </a:solidFill>
              </a:rPr>
              <a:t> Calls the head and decodes boxes (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simple_test_pts</a:t>
            </a:r>
            <a:r>
              <a:rPr lang="en-IN" sz="1800" dirty="0">
                <a:solidFill>
                  <a:schemeClr val="tx1"/>
                </a:solidFill>
              </a:rPr>
              <a:t>).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Augmentation:</a:t>
            </a:r>
            <a:r>
              <a:rPr lang="en-IN" sz="1800" dirty="0">
                <a:solidFill>
                  <a:schemeClr val="tx1"/>
                </a:solidFill>
              </a:rPr>
              <a:t> Handles test-time augmentation (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aug_test_pts</a:t>
            </a:r>
            <a:r>
              <a:rPr lang="en-IN" sz="1800" dirty="0">
                <a:solidFill>
                  <a:schemeClr val="tx1"/>
                </a:solidFill>
              </a:rPr>
              <a:t>).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Decoding:</a:t>
            </a:r>
            <a:r>
              <a:rPr lang="en-IN" sz="1800" dirty="0">
                <a:solidFill>
                  <a:schemeClr val="tx1"/>
                </a:solidFill>
              </a:rPr>
              <a:t> Converts raw head outputs into the final list of 3D boxes.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>
            <a:spLocks noGrp="1"/>
          </p:cNvSpPr>
          <p:nvPr>
            <p:ph type="title"/>
          </p:nvPr>
        </p:nvSpPr>
        <p:spPr>
          <a:xfrm>
            <a:off x="609750" y="7837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How CenterPoint Works: 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40"/>
          <p:cNvSpPr txBox="1"/>
          <p:nvPr/>
        </p:nvSpPr>
        <p:spPr>
          <a:xfrm>
            <a:off x="36775" y="1460500"/>
            <a:ext cx="6149400" cy="50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1. Heatmap (Classification)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The primary head. It predicts the probability of an object </a:t>
            </a:r>
            <a:r>
              <a:rPr lang="en-IN" sz="1800" dirty="0" err="1">
                <a:solidFill>
                  <a:schemeClr val="tx1"/>
                </a:solidFill>
              </a:rPr>
              <a:t>center</a:t>
            </a:r>
            <a:r>
              <a:rPr lang="en-IN" sz="1800" dirty="0">
                <a:solidFill>
                  <a:schemeClr val="tx1"/>
                </a:solidFill>
              </a:rPr>
              <a:t> being present at each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(x, y)</a:t>
            </a:r>
            <a:r>
              <a:rPr lang="en-IN" sz="1800" dirty="0">
                <a:solidFill>
                  <a:schemeClr val="tx1"/>
                </a:solidFill>
              </a:rPr>
              <a:t> location in the BEV map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54" name="Google Shape;254;p40"/>
          <p:cNvSpPr txBox="1"/>
          <p:nvPr/>
        </p:nvSpPr>
        <p:spPr>
          <a:xfrm>
            <a:off x="6202950" y="1393650"/>
            <a:ext cx="5915400" cy="50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2. Regression Heads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For every location, these heads predict the object's properties *if* a </a:t>
            </a:r>
            <a:r>
              <a:rPr lang="en-IN" sz="1800" dirty="0" err="1">
                <a:solidFill>
                  <a:schemeClr val="tx1"/>
                </a:solidFill>
              </a:rPr>
              <a:t>center</a:t>
            </a:r>
            <a:r>
              <a:rPr lang="en-IN" sz="1800" dirty="0">
                <a:solidFill>
                  <a:schemeClr val="tx1"/>
                </a:solidFill>
              </a:rPr>
              <a:t> is present: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Offset:</a:t>
            </a:r>
            <a:r>
              <a:rPr lang="en-IN" sz="1800" dirty="0">
                <a:solidFill>
                  <a:schemeClr val="tx1"/>
                </a:solidFill>
              </a:rPr>
              <a:t> Sub-pixel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(x, y)</a:t>
            </a:r>
            <a:r>
              <a:rPr lang="en-IN" sz="1800" dirty="0">
                <a:solidFill>
                  <a:schemeClr val="tx1"/>
                </a:solidFill>
              </a:rPr>
              <a:t> correction.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Height: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en-IN" sz="1800" dirty="0">
                <a:solidFill>
                  <a:schemeClr val="tx1"/>
                </a:solidFill>
              </a:rPr>
              <a:t>-coordinate of the </a:t>
            </a:r>
            <a:r>
              <a:rPr lang="en-IN" sz="1800" dirty="0" err="1">
                <a:solidFill>
                  <a:schemeClr val="tx1"/>
                </a:solidFill>
              </a:rPr>
              <a:t>center</a:t>
            </a:r>
            <a:r>
              <a:rPr lang="en-IN" sz="1800" dirty="0">
                <a:solidFill>
                  <a:schemeClr val="tx1"/>
                </a:solidFill>
              </a:rPr>
              <a:t>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Size: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(w, l, h)</a:t>
            </a:r>
            <a:r>
              <a:rPr lang="en-IN" sz="1800" dirty="0">
                <a:solidFill>
                  <a:schemeClr val="tx1"/>
                </a:solidFill>
              </a:rPr>
              <a:t> dimensions.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Yaw:</a:t>
            </a:r>
            <a:r>
              <a:rPr lang="en-IN" sz="1800" dirty="0">
                <a:solidFill>
                  <a:schemeClr val="tx1"/>
                </a:solidFill>
              </a:rPr>
              <a:t> Rotation (sin, cos).</a:t>
            </a:r>
            <a:endParaRPr sz="1800"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None/>
            </a:pPr>
            <a:r>
              <a:rPr lang="en-IN" sz="1800" b="1" dirty="0">
                <a:solidFill>
                  <a:schemeClr val="tx1"/>
                </a:solidFill>
              </a:rPr>
              <a:t>Velocity: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vx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vy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IN" sz="1800" dirty="0">
                <a:solidFill>
                  <a:schemeClr val="tx1"/>
                </a:solidFill>
              </a:rPr>
              <a:t>.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>
            <a:spLocks noGrp="1"/>
          </p:cNvSpPr>
          <p:nvPr>
            <p:ph type="title"/>
          </p:nvPr>
        </p:nvSpPr>
        <p:spPr>
          <a:xfrm>
            <a:off x="174474" y="299442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 b="1" dirty="0">
                <a:solidFill>
                  <a:srgbClr val="1E3A8A"/>
                </a:solidFill>
              </a:rPr>
              <a:t>How CenterPoint Works: Decoding Boxes</a:t>
            </a:r>
            <a:endParaRPr sz="3600" b="1"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19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1" name="Google Shape;261;p41"/>
          <p:cNvSpPr txBox="1"/>
          <p:nvPr/>
        </p:nvSpPr>
        <p:spPr>
          <a:xfrm>
            <a:off x="3350" y="1443800"/>
            <a:ext cx="4645500" cy="50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1. Find Peaks (</a:t>
            </a:r>
            <a:r>
              <a:rPr lang="en-IN" sz="1800" b="1" dirty="0" err="1">
                <a:solidFill>
                  <a:srgbClr val="312E8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get_bboxes</a:t>
            </a:r>
            <a:r>
              <a:rPr lang="en-IN" sz="1800" b="1" dirty="0">
                <a:solidFill>
                  <a:srgbClr val="1E3A8A"/>
                </a:solidFill>
              </a:rPr>
              <a:t>)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First, the model performs a non-max suppression (NMS) on the </a:t>
            </a:r>
            <a:r>
              <a:rPr lang="en-IN" sz="1800" b="1" dirty="0">
                <a:solidFill>
                  <a:schemeClr val="tx1"/>
                </a:solidFill>
              </a:rPr>
              <a:t>Heatmap</a:t>
            </a:r>
            <a:r>
              <a:rPr lang="en-IN" sz="1800" dirty="0">
                <a:solidFill>
                  <a:schemeClr val="tx1"/>
                </a:solidFill>
              </a:rPr>
              <a:t> to find the Top-K highest-confidence peaks. These peaks are the detected object </a:t>
            </a:r>
            <a:r>
              <a:rPr lang="en-IN" sz="1800" dirty="0" err="1">
                <a:solidFill>
                  <a:schemeClr val="tx1"/>
                </a:solidFill>
              </a:rPr>
              <a:t>centers</a:t>
            </a:r>
            <a:r>
              <a:rPr lang="en-IN" sz="1800" dirty="0">
                <a:solidFill>
                  <a:srgbClr val="475569"/>
                </a:solidFill>
              </a:rPr>
              <a:t>.</a:t>
            </a:r>
            <a:endParaRPr sz="1800" dirty="0">
              <a:solidFill>
                <a:srgbClr val="47556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62" name="Google Shape;262;p41"/>
          <p:cNvSpPr txBox="1"/>
          <p:nvPr/>
        </p:nvSpPr>
        <p:spPr>
          <a:xfrm>
            <a:off x="4690575" y="1393700"/>
            <a:ext cx="4236300" cy="51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2. Sample Regressions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For each peak's 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(x, y)</a:t>
            </a:r>
            <a:r>
              <a:rPr lang="en-IN" sz="1800" dirty="0">
                <a:solidFill>
                  <a:schemeClr val="tx1"/>
                </a:solidFill>
              </a:rPr>
              <a:t> coordinate, the model looks up the corresponding values from all the other regression maps (Offset, Size, Yaw, etc.) at that same location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63" name="Google Shape;263;p41"/>
          <p:cNvSpPr txBox="1"/>
          <p:nvPr/>
        </p:nvSpPr>
        <p:spPr>
          <a:xfrm>
            <a:off x="8926875" y="1318550"/>
            <a:ext cx="3265200" cy="52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rgbClr val="1E3A8A"/>
                </a:solidFill>
              </a:rPr>
              <a:t>3. Assemble Final Box</a:t>
            </a:r>
            <a:endParaRPr sz="1800" b="1" dirty="0">
              <a:solidFill>
                <a:srgbClr val="1E3A8A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The sampled values are combined to "assemble" the final 3D box vector, e.g.: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[x, y, z, w, l, h, yaw, 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vx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IN" sz="1800" dirty="0" err="1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vy</a:t>
            </a:r>
            <a:r>
              <a:rPr lang="en-IN" sz="1800" dirty="0">
                <a:solidFill>
                  <a:schemeClr val="tx1"/>
                </a:solidFill>
                <a:highlight>
                  <a:srgbClr val="EEF2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dirty="0">
              <a:solidFill>
                <a:schemeClr val="tx1"/>
              </a:solidFill>
              <a:highlight>
                <a:srgbClr val="EEF2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</a:rPr>
              <a:t>This is the final output of the entire CR3DT network</a:t>
            </a:r>
            <a:r>
              <a:rPr lang="en-IN" sz="1800" dirty="0">
                <a:solidFill>
                  <a:srgbClr val="475569"/>
                </a:solidFill>
              </a:rPr>
              <a:t>.</a:t>
            </a:r>
            <a:endParaRPr sz="1800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dirty="0">
                <a:solidFill>
                  <a:srgbClr val="1E3A8A"/>
                </a:solidFill>
              </a:rPr>
              <a:t>Plan of work</a:t>
            </a:r>
            <a:endParaRPr dirty="0">
              <a:solidFill>
                <a:srgbClr val="1E3A8A"/>
              </a:solidFill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529457" y="1566202"/>
            <a:ext cx="104112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b="1">
                <a:solidFill>
                  <a:schemeClr val="dk1"/>
                </a:solidFill>
              </a:rPr>
              <a:t>Set up environment</a:t>
            </a:r>
            <a:r>
              <a:rPr lang="en-IN">
                <a:solidFill>
                  <a:schemeClr val="dk1"/>
                </a:solidFill>
              </a:rPr>
              <a:t> using Docker, MMDetection3D, BEVDet, and CUDA on </a:t>
            </a:r>
            <a:r>
              <a:rPr lang="en-IN" b="1">
                <a:solidFill>
                  <a:schemeClr val="dk1"/>
                </a:solidFill>
              </a:rPr>
              <a:t>RTX 4090</a:t>
            </a:r>
            <a:r>
              <a:rPr lang="en-IN">
                <a:solidFill>
                  <a:schemeClr val="dk1"/>
                </a:solidFill>
              </a:rPr>
              <a:t>.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b="1">
                <a:solidFill>
                  <a:schemeClr val="dk1"/>
                </a:solidFill>
              </a:rPr>
              <a:t>Prepared the full nuScenes dataset</a:t>
            </a:r>
            <a:r>
              <a:rPr lang="en-IN">
                <a:solidFill>
                  <a:schemeClr val="dk1"/>
                </a:solidFill>
              </a:rPr>
              <a:t> (300GB) with correct folder structure and metadata.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b="1">
                <a:solidFill>
                  <a:schemeClr val="dk1"/>
                </a:solidFill>
              </a:rPr>
              <a:t>Reproduced the CR3DT baseline</a:t>
            </a:r>
            <a:r>
              <a:rPr lang="en-IN">
                <a:solidFill>
                  <a:schemeClr val="dk1"/>
                </a:solidFill>
              </a:rPr>
              <a:t> using the authors’ pretrained model and verified all metrics.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b="1">
                <a:solidFill>
                  <a:schemeClr val="dk1"/>
                </a:solidFill>
              </a:rPr>
              <a:t>Implemented two experiments</a:t>
            </a:r>
            <a:r>
              <a:rPr lang="en-IN">
                <a:solidFill>
                  <a:schemeClr val="dk1"/>
                </a:solidFill>
              </a:rPr>
              <a:t> inside </a:t>
            </a:r>
            <a:r>
              <a:rPr lang="en-I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cr3dtnet.py</a:t>
            </a:r>
            <a:r>
              <a:rPr lang="en-IN">
                <a:solidFill>
                  <a:schemeClr val="dk1"/>
                </a:solidFill>
              </a:rPr>
              <a:t>: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Gated Fusion module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Radar Adapter (Conv–BN–ReLU)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b="1">
                <a:solidFill>
                  <a:schemeClr val="dk1"/>
                </a:solidFill>
              </a:rPr>
              <a:t>Trained and validated</a:t>
            </a:r>
            <a:r>
              <a:rPr lang="en-IN">
                <a:solidFill>
                  <a:schemeClr val="dk1"/>
                </a:solidFill>
              </a:rPr>
              <a:t> modified architectures to ensure stability and correct output.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b="1">
                <a:solidFill>
                  <a:schemeClr val="dk1"/>
                </a:solidFill>
              </a:rPr>
              <a:t>Analyzed results</a:t>
            </a:r>
            <a:r>
              <a:rPr lang="en-IN">
                <a:solidFill>
                  <a:schemeClr val="dk1"/>
                </a:solidFill>
              </a:rPr>
              <a:t> and identified improvements for fusion quality and model performance.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rgbClr val="1E3A8A"/>
                </a:solidFill>
              </a:rPr>
              <a:t>Baseline Reproduction (SUCCESS)</a:t>
            </a:r>
            <a:endParaRPr dirty="0">
              <a:solidFill>
                <a:srgbClr val="1E3A8A"/>
              </a:solidFill>
            </a:endParaRPr>
          </a:p>
        </p:txBody>
      </p:sp>
      <p:sp>
        <p:nvSpPr>
          <p:cNvPr id="301" name="Google Shape;301;p46"/>
          <p:cNvSpPr txBox="1"/>
          <p:nvPr/>
        </p:nvSpPr>
        <p:spPr>
          <a:xfrm>
            <a:off x="504750" y="1492950"/>
            <a:ext cx="10138500" cy="40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chemeClr val="dk1"/>
                </a:solidFill>
              </a:rPr>
              <a:t>Goal:</a:t>
            </a:r>
            <a:r>
              <a:rPr lang="en-IN" sz="1200" dirty="0">
                <a:solidFill>
                  <a:schemeClr val="dk1"/>
                </a:solidFill>
              </a:rPr>
              <a:t> Validate CR3DT paper results using authors’ pretrained model.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chemeClr val="dk1"/>
                </a:solidFill>
              </a:rPr>
              <a:t>What we did: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Set up full Docker + CUDA environment on </a:t>
            </a:r>
            <a:r>
              <a:rPr lang="en-IN" sz="1200" b="1" dirty="0">
                <a:solidFill>
                  <a:schemeClr val="dk1"/>
                </a:solidFill>
              </a:rPr>
              <a:t>NVIDIA RTX 4090</a:t>
            </a:r>
            <a:br>
              <a:rPr lang="en-IN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Processed </a:t>
            </a:r>
            <a:r>
              <a:rPr lang="en-IN" sz="1200" b="1" dirty="0">
                <a:solidFill>
                  <a:schemeClr val="dk1"/>
                </a:solidFill>
              </a:rPr>
              <a:t>300GB </a:t>
            </a:r>
            <a:r>
              <a:rPr lang="en-IN" sz="1200" b="1" dirty="0" err="1">
                <a:solidFill>
                  <a:schemeClr val="dk1"/>
                </a:solidFill>
              </a:rPr>
              <a:t>nuScenes</a:t>
            </a:r>
            <a:r>
              <a:rPr lang="en-IN" sz="1200" b="1" dirty="0">
                <a:solidFill>
                  <a:schemeClr val="dk1"/>
                </a:solidFill>
              </a:rPr>
              <a:t> dataset</a:t>
            </a:r>
            <a:br>
              <a:rPr lang="en-IN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Ran official evaluation script</a:t>
            </a:r>
            <a:br>
              <a:rPr lang="en-I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chemeClr val="dk1"/>
                </a:solidFill>
              </a:rPr>
              <a:t>Result (Matched Paper Exactly):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b="1" dirty="0" err="1">
                <a:solidFill>
                  <a:schemeClr val="dk1"/>
                </a:solidFill>
              </a:rPr>
              <a:t>mAP</a:t>
            </a:r>
            <a:r>
              <a:rPr lang="en-IN" sz="1200" b="1" dirty="0">
                <a:solidFill>
                  <a:schemeClr val="dk1"/>
                </a:solidFill>
              </a:rPr>
              <a:t>:</a:t>
            </a:r>
            <a:r>
              <a:rPr lang="en-IN" sz="1200" dirty="0">
                <a:solidFill>
                  <a:schemeClr val="dk1"/>
                </a:solidFill>
              </a:rPr>
              <a:t> 35.1%</a:t>
            </a:r>
            <a:br>
              <a:rPr lang="en-I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b="1" dirty="0">
                <a:solidFill>
                  <a:schemeClr val="dk1"/>
                </a:solidFill>
              </a:rPr>
              <a:t>NDS:</a:t>
            </a:r>
            <a:r>
              <a:rPr lang="en-IN" sz="1200" dirty="0">
                <a:solidFill>
                  <a:schemeClr val="dk1"/>
                </a:solidFill>
              </a:rPr>
              <a:t> 45.6%</a:t>
            </a:r>
            <a:br>
              <a:rPr lang="en-I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b="1" dirty="0" err="1">
                <a:solidFill>
                  <a:schemeClr val="dk1"/>
                </a:solidFill>
              </a:rPr>
              <a:t>mAVE</a:t>
            </a:r>
            <a:r>
              <a:rPr lang="en-IN" sz="1200" b="1" dirty="0">
                <a:solidFill>
                  <a:schemeClr val="dk1"/>
                </a:solidFill>
              </a:rPr>
              <a:t>:</a:t>
            </a:r>
            <a:r>
              <a:rPr lang="en-IN" sz="1200" dirty="0">
                <a:solidFill>
                  <a:schemeClr val="dk1"/>
                </a:solidFill>
              </a:rPr>
              <a:t> 0.47 m/s</a:t>
            </a:r>
            <a:br>
              <a:rPr lang="en-I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b="1" dirty="0">
                <a:solidFill>
                  <a:schemeClr val="dk1"/>
                </a:solidFill>
              </a:rPr>
              <a:t>AMOTA:</a:t>
            </a:r>
            <a:r>
              <a:rPr lang="en-IN" sz="1200" dirty="0">
                <a:solidFill>
                  <a:schemeClr val="dk1"/>
                </a:solidFill>
              </a:rPr>
              <a:t> 38.1%</a:t>
            </a:r>
            <a:br>
              <a:rPr lang="en-I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b="1" dirty="0">
                <a:solidFill>
                  <a:schemeClr val="dk1"/>
                </a:solidFill>
              </a:rPr>
              <a:t>IDS:</a:t>
            </a:r>
            <a:r>
              <a:rPr lang="en-IN" sz="1200" dirty="0">
                <a:solidFill>
                  <a:schemeClr val="dk1"/>
                </a:solidFill>
              </a:rPr>
              <a:t> reduced by 43% (vs baseline camera-only)</a:t>
            </a:r>
            <a:br>
              <a:rPr lang="en-IN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</a:rPr>
              <a:t>This establishes a </a:t>
            </a:r>
            <a:r>
              <a:rPr lang="en-IN" sz="1200" b="1" dirty="0">
                <a:solidFill>
                  <a:schemeClr val="dk1"/>
                </a:solidFill>
              </a:rPr>
              <a:t>verified performance baseline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2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9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IN" dirty="0">
                <a:solidFill>
                  <a:srgbClr val="1E3A8A"/>
                </a:solidFill>
              </a:rPr>
              <a:t>Screenshot of successful baseline Reproduction</a:t>
            </a:r>
            <a:endParaRPr dirty="0">
              <a:solidFill>
                <a:srgbClr val="1E3A8A"/>
              </a:solidFill>
            </a:endParaRPr>
          </a:p>
        </p:txBody>
      </p:sp>
      <p:pic>
        <p:nvPicPr>
          <p:cNvPr id="308" name="Google Shape;3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5400"/>
            <a:ext cx="8536163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>
            <a:spLocks noGrp="1"/>
          </p:cNvSpPr>
          <p:nvPr>
            <p:ph type="body" idx="1"/>
          </p:nvPr>
        </p:nvSpPr>
        <p:spPr>
          <a:xfrm>
            <a:off x="433400" y="376700"/>
            <a:ext cx="8408759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rgbClr val="1E3A8A"/>
                </a:solidFill>
              </a:rPr>
              <a:t>Experiment A - Gated Fusion Architecture</a:t>
            </a:r>
            <a:endParaRPr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4100" i="1" dirty="0"/>
          </a:p>
        </p:txBody>
      </p:sp>
      <p:sp>
        <p:nvSpPr>
          <p:cNvPr id="315" name="Google Shape;315;p48"/>
          <p:cNvSpPr txBox="1"/>
          <p:nvPr/>
        </p:nvSpPr>
        <p:spPr>
          <a:xfrm>
            <a:off x="639750" y="1589800"/>
            <a:ext cx="9018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 b="1">
                <a:solidFill>
                  <a:schemeClr val="dk1"/>
                </a:solidFill>
              </a:rPr>
              <a:t>Hypothesis</a:t>
            </a:r>
            <a:r>
              <a:rPr lang="en-IN" sz="1100">
                <a:solidFill>
                  <a:schemeClr val="dk1"/>
                </a:solidFill>
              </a:rPr>
              <a:t>: Simple concatenation of Camera + RADAR features is naive.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 b="1">
                <a:solidFill>
                  <a:schemeClr val="dk1"/>
                </a:solidFill>
              </a:rPr>
              <a:t>Idea</a:t>
            </a:r>
            <a:r>
              <a:rPr lang="en-IN" sz="1100">
                <a:solidFill>
                  <a:schemeClr val="dk1"/>
                </a:solidFill>
              </a:rPr>
              <a:t>: Use a learnable gate to dynamically weigh each sensor.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chemeClr val="dk1"/>
                </a:solidFill>
              </a:rPr>
              <a:t>Modification in </a:t>
            </a:r>
            <a: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cr3dtnet.py</a:t>
            </a:r>
            <a:r>
              <a:rPr lang="en-IN" sz="1100">
                <a:solidFill>
                  <a:schemeClr val="dk1"/>
                </a:solidFill>
              </a:rPr>
              <a:t>: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solidFill>
                  <a:schemeClr val="dk1"/>
                </a:solidFill>
              </a:rPr>
              <a:t>Added a </a:t>
            </a:r>
            <a:r>
              <a:rPr lang="en-IN" sz="1100" b="1">
                <a:solidFill>
                  <a:schemeClr val="dk1"/>
                </a:solidFill>
              </a:rPr>
              <a:t>1×1 Conv Gate Layer</a:t>
            </a:r>
            <a:r>
              <a:rPr lang="en-IN" sz="1100">
                <a:solidFill>
                  <a:schemeClr val="dk1"/>
                </a:solidFill>
              </a:rPr>
              <a:t> (in_channels=82 → 2 outputs).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solidFill>
                  <a:schemeClr val="dk1"/>
                </a:solidFill>
              </a:rPr>
              <a:t>Gate produces attention weights for Camera and RADAR.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solidFill>
                  <a:schemeClr val="dk1"/>
                </a:solidFill>
              </a:rPr>
              <a:t>Applied sigmoid normalization for [0,1] weights.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chemeClr val="dk1"/>
                </a:solidFill>
              </a:rPr>
              <a:t>Fusion becomes weighted instead of fixed.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 b="1">
                <a:solidFill>
                  <a:schemeClr val="dk1"/>
                </a:solidFill>
              </a:rPr>
              <a:t>Validation: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solidFill>
                  <a:schemeClr val="dk1"/>
                </a:solidFill>
              </a:rPr>
              <a:t>Ran 3-epoch training to verify pipeline stability.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solidFill>
                  <a:schemeClr val="dk1"/>
                </a:solidFill>
              </a:rPr>
              <a:t>Training ran without errors.</a:t>
            </a:r>
            <a:br>
              <a:rPr lang="en-I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solidFill>
                  <a:schemeClr val="dk1"/>
                </a:solidFill>
              </a:rPr>
              <a:t>Output mAP = </a:t>
            </a:r>
            <a:r>
              <a:rPr lang="en-IN" sz="1100" b="1">
                <a:solidFill>
                  <a:schemeClr val="dk1"/>
                </a:solidFill>
              </a:rPr>
              <a:t>0.93%</a:t>
            </a:r>
            <a:r>
              <a:rPr lang="en-IN" sz="1100">
                <a:solidFill>
                  <a:schemeClr val="dk1"/>
                </a:solidFill>
              </a:rPr>
              <a:t> (expected for untrained model).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 txBox="1">
            <a:spLocks noGrp="1"/>
          </p:cNvSpPr>
          <p:nvPr>
            <p:ph type="body" idx="1"/>
          </p:nvPr>
        </p:nvSpPr>
        <p:spPr>
          <a:xfrm>
            <a:off x="152400" y="553375"/>
            <a:ext cx="9421113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IN" dirty="0">
                <a:solidFill>
                  <a:srgbClr val="1E3A8A"/>
                </a:solidFill>
              </a:rPr>
              <a:t>Screenshot for Gated Fusion Architecture</a:t>
            </a:r>
            <a:endParaRPr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2" name="Google Shape;32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841248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rgbClr val="1E3A8A"/>
                </a:solidFill>
              </a:rPr>
              <a:t>Experiment B - Learnable Radar Adapter</a:t>
            </a:r>
            <a:endParaRPr dirty="0">
              <a:solidFill>
                <a:srgbClr val="1E3A8A"/>
              </a:solidFill>
            </a:endParaRPr>
          </a:p>
        </p:txBody>
      </p:sp>
      <p:sp>
        <p:nvSpPr>
          <p:cNvPr id="329" name="Google Shape;329;p50"/>
          <p:cNvSpPr txBox="1"/>
          <p:nvPr/>
        </p:nvSpPr>
        <p:spPr>
          <a:xfrm>
            <a:off x="140250" y="1454800"/>
            <a:ext cx="10975500" cy="4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 b="1">
                <a:solidFill>
                  <a:schemeClr val="dk1"/>
                </a:solidFill>
              </a:rPr>
              <a:t>Hypothesis</a:t>
            </a:r>
            <a:r>
              <a:rPr lang="en-IN" sz="900">
                <a:solidFill>
                  <a:schemeClr val="dk1"/>
                </a:solidFill>
              </a:rPr>
              <a:t>: RADAR is sparse/noisy; preprocessing may improve fusion.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>
                <a:solidFill>
                  <a:schemeClr val="dk1"/>
                </a:solidFill>
              </a:rPr>
              <a:t>Modification in </a:t>
            </a:r>
            <a:r>
              <a:rPr lang="en-I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cr3dtnet.py</a:t>
            </a:r>
            <a:r>
              <a:rPr lang="en-IN" sz="900">
                <a:solidFill>
                  <a:schemeClr val="dk1"/>
                </a:solidFill>
              </a:rPr>
              <a:t>: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IN" sz="900">
                <a:solidFill>
                  <a:schemeClr val="dk1"/>
                </a:solidFill>
              </a:rPr>
              <a:t>Added a lightweight </a:t>
            </a:r>
            <a:r>
              <a:rPr lang="en-IN" sz="900" b="1">
                <a:solidFill>
                  <a:schemeClr val="dk1"/>
                </a:solidFill>
              </a:rPr>
              <a:t>Radar Adapter Block</a:t>
            </a:r>
            <a:r>
              <a:rPr lang="en-IN" sz="900">
                <a:solidFill>
                  <a:schemeClr val="dk1"/>
                </a:solidFill>
              </a:rPr>
              <a:t>: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IN" sz="900">
                <a:solidFill>
                  <a:schemeClr val="dk1"/>
                </a:solidFill>
              </a:rPr>
              <a:t>Conv2d (18→18, kernel=1)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IN" sz="900">
                <a:solidFill>
                  <a:schemeClr val="dk1"/>
                </a:solidFill>
              </a:rPr>
              <a:t>BatchNorm2d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IN" sz="900">
                <a:solidFill>
                  <a:schemeClr val="dk1"/>
                </a:solidFill>
              </a:rPr>
              <a:t>ReLU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IN" sz="900">
                <a:solidFill>
                  <a:schemeClr val="dk1"/>
                </a:solidFill>
              </a:rPr>
              <a:t>Adapter cleans + normalizes RADAR features before fusion.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 b="1">
                <a:solidFill>
                  <a:schemeClr val="dk1"/>
                </a:solidFill>
              </a:rPr>
              <a:t>Training strategy: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IN" sz="900">
                <a:solidFill>
                  <a:schemeClr val="dk1"/>
                </a:solidFill>
              </a:rPr>
              <a:t>Loaded baseline pretrained model (</a:t>
            </a:r>
            <a:r>
              <a:rPr lang="en-I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cr3dt.pth</a:t>
            </a:r>
            <a:r>
              <a:rPr lang="en-IN" sz="900">
                <a:solidFill>
                  <a:schemeClr val="dk1"/>
                </a:solidFill>
              </a:rPr>
              <a:t>).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IN" sz="900">
                <a:solidFill>
                  <a:schemeClr val="dk1"/>
                </a:solidFill>
              </a:rPr>
              <a:t>Fine-tuning for </a:t>
            </a:r>
            <a:r>
              <a:rPr lang="en-IN" sz="900" b="1">
                <a:solidFill>
                  <a:schemeClr val="dk1"/>
                </a:solidFill>
              </a:rPr>
              <a:t>12 epochs</a:t>
            </a:r>
            <a:r>
              <a:rPr lang="en-IN" sz="900">
                <a:solidFill>
                  <a:schemeClr val="dk1"/>
                </a:solidFill>
              </a:rPr>
              <a:t> instead of full training.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900" b="1">
                <a:solidFill>
                  <a:schemeClr val="dk1"/>
                </a:solidFill>
              </a:rPr>
              <a:t>Status: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IN" sz="900">
                <a:solidFill>
                  <a:schemeClr val="dk1"/>
                </a:solidFill>
              </a:rPr>
              <a:t>Model is currently training.</a:t>
            </a:r>
            <a:br>
              <a:rPr lang="en-I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IN" sz="900">
                <a:solidFill>
                  <a:schemeClr val="dk1"/>
                </a:solidFill>
              </a:rPr>
              <a:t>Expected to exceed baseline mAP 35.1%.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body" idx="1"/>
          </p:nvPr>
        </p:nvSpPr>
        <p:spPr>
          <a:xfrm>
            <a:off x="513000" y="304800"/>
            <a:ext cx="9492134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1E3A8A"/>
                </a:solidFill>
              </a:rPr>
              <a:t>Screenshot for RADAR Adapter Architecture</a:t>
            </a:r>
            <a:endParaRPr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36" name="Google Shape;336;p51" title="WhatsApp Image 2025-11-21 at 17.01.3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99" y="1447800"/>
            <a:ext cx="4417002" cy="248455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1"/>
          <p:cNvSpPr txBox="1"/>
          <p:nvPr/>
        </p:nvSpPr>
        <p:spPr>
          <a:xfrm>
            <a:off x="153900" y="3932350"/>
            <a:ext cx="5030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</a:rPr>
              <a:t>Training running for epoch&gt;28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38" name="Google Shape;338;p51" title="WhatsApp Image 2025-11-19 at 12.12.5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626" y="1447803"/>
            <a:ext cx="7330851" cy="458177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1"/>
          <p:cNvSpPr txBox="1"/>
          <p:nvPr/>
        </p:nvSpPr>
        <p:spPr>
          <a:xfrm>
            <a:off x="4636625" y="6029575"/>
            <a:ext cx="42210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Screenshot for epoch=12 results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>
            <a:spLocks noGrp="1"/>
          </p:cNvSpPr>
          <p:nvPr>
            <p:ph type="body" idx="1"/>
          </p:nvPr>
        </p:nvSpPr>
        <p:spPr>
          <a:xfrm>
            <a:off x="513000" y="304800"/>
            <a:ext cx="8432700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IN" dirty="0">
                <a:solidFill>
                  <a:srgbClr val="1E3A8A"/>
                </a:solidFill>
              </a:rPr>
              <a:t>Screenshot for RADAR Adapter Architecture</a:t>
            </a:r>
            <a:endParaRPr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47" name="Google Shape;347;p52" title="Screenshot 2025-11-22 at 13.34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" y="1480075"/>
            <a:ext cx="5423524" cy="334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2" title="Screenshot 2025-11-22 at 13.35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658" y="1480075"/>
            <a:ext cx="5474942" cy="33436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2"/>
          <p:cNvSpPr txBox="1"/>
          <p:nvPr/>
        </p:nvSpPr>
        <p:spPr>
          <a:xfrm>
            <a:off x="-185637" y="4823675"/>
            <a:ext cx="58899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chemeClr val="dk1"/>
                </a:solidFill>
              </a:rPr>
              <a:t>Baseline accuracy metrics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50" name="Google Shape;350;p52"/>
          <p:cNvSpPr txBox="1"/>
          <p:nvPr/>
        </p:nvSpPr>
        <p:spPr>
          <a:xfrm>
            <a:off x="7906400" y="4823675"/>
            <a:ext cx="35652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</a:rPr>
              <a:t>Improved metrics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3"/>
          <p:cNvSpPr txBox="1">
            <a:spLocks noGrp="1"/>
          </p:cNvSpPr>
          <p:nvPr>
            <p:ph type="body" idx="1"/>
          </p:nvPr>
        </p:nvSpPr>
        <p:spPr>
          <a:xfrm>
            <a:off x="406400" y="462900"/>
            <a:ext cx="8432700" cy="11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rgbClr val="1E3A8A"/>
                </a:solidFill>
              </a:rPr>
              <a:t>Technical Challenges Overcome</a:t>
            </a:r>
            <a:endParaRPr dirty="0">
              <a:solidFill>
                <a:srgbClr val="1E3A8A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4600" i="1" dirty="0"/>
          </a:p>
        </p:txBody>
      </p:sp>
      <p:sp>
        <p:nvSpPr>
          <p:cNvPr id="357" name="Google Shape;357;p53"/>
          <p:cNvSpPr txBox="1"/>
          <p:nvPr/>
        </p:nvSpPr>
        <p:spPr>
          <a:xfrm>
            <a:off x="207750" y="1670800"/>
            <a:ext cx="10246500" cy="44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IN" sz="2400" b="1">
                <a:solidFill>
                  <a:schemeClr val="dk1"/>
                </a:solidFill>
              </a:rPr>
              <a:t>VRAM constraints </a:t>
            </a:r>
            <a:r>
              <a:rPr lang="en-IN" sz="2400">
                <a:solidFill>
                  <a:schemeClr val="dk1"/>
                </a:solidFill>
              </a:rPr>
              <a:t>→ solved using AMP + tuned batch size.</a:t>
            </a:r>
            <a:br>
              <a:rPr lang="en-I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IN" sz="2400" b="1">
                <a:solidFill>
                  <a:schemeClr val="dk1"/>
                </a:solidFill>
              </a:rPr>
              <a:t>RAM crashes (“Process Killed”)</a:t>
            </a:r>
            <a:r>
              <a:rPr lang="en-IN" sz="2400">
                <a:solidFill>
                  <a:schemeClr val="dk1"/>
                </a:solidFill>
              </a:rPr>
              <a:t> → fixed via dataloader worker tuning.</a:t>
            </a:r>
            <a:br>
              <a:rPr lang="en-I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IN" sz="2400" b="1">
                <a:solidFill>
                  <a:schemeClr val="dk1"/>
                </a:solidFill>
              </a:rPr>
              <a:t>Missing RADAR / metadata files </a:t>
            </a:r>
            <a:r>
              <a:rPr lang="en-IN" sz="2400">
                <a:solidFill>
                  <a:schemeClr val="dk1"/>
                </a:solidFill>
              </a:rPr>
              <a:t>→ corrected dataset structure.</a:t>
            </a:r>
            <a:br>
              <a:rPr lang="en-I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IN" sz="2400" b="1">
                <a:solidFill>
                  <a:schemeClr val="dk1"/>
                </a:solidFill>
              </a:rPr>
              <a:t>University network restrictions </a:t>
            </a:r>
            <a:r>
              <a:rPr lang="en-IN" sz="2400">
                <a:solidFill>
                  <a:schemeClr val="dk1"/>
                </a:solidFill>
              </a:rPr>
              <a:t>→ manually downloaded(via hotspot) blocked dependencies</a:t>
            </a:r>
            <a:r>
              <a:rPr lang="en-IN" sz="2400" b="1">
                <a:solidFill>
                  <a:schemeClr val="dk1"/>
                </a:solidFill>
              </a:rPr>
              <a:t>.</a:t>
            </a:r>
            <a:br>
              <a:rPr lang="en-I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IN" sz="2400" b="1">
                <a:solidFill>
                  <a:schemeClr val="dk1"/>
                </a:solidFill>
              </a:rPr>
              <a:t>Docker instability</a:t>
            </a:r>
            <a:r>
              <a:rPr lang="en-IN" sz="2400">
                <a:solidFill>
                  <a:schemeClr val="dk1"/>
                </a:solidFill>
              </a:rPr>
              <a:t> → resolved path mappings + manual installs.</a:t>
            </a:r>
            <a:br>
              <a:rPr lang="en-I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</a:rPr>
              <a:t>All CUDA extensions compiled successfully on RTX 4090.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0B59D7-215C-1411-9E71-A4C9FB31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27" y="731659"/>
            <a:ext cx="10972440" cy="1144800"/>
          </a:xfrm>
        </p:spPr>
        <p:txBody>
          <a:bodyPr/>
          <a:lstStyle/>
          <a:p>
            <a:r>
              <a:rPr lang="en-IN" sz="3600" b="1" dirty="0">
                <a:solidFill>
                  <a:srgbClr val="1E3A8A"/>
                </a:solidFill>
              </a:rPr>
              <a:t>Architectural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3600" b="1" dirty="0">
                <a:solidFill>
                  <a:srgbClr val="1E3A8A"/>
                </a:solidFill>
              </a:rPr>
              <a:t>Improvement: The Radar Adapter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</a:rPr>
            </a:b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BE34C4-2956-F0DC-C6C2-19222B67C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797483"/>
              </p:ext>
            </p:extLst>
          </p:nvPr>
        </p:nvGraphicFramePr>
        <p:xfrm>
          <a:off x="727587" y="3148888"/>
          <a:ext cx="9714270" cy="2164080"/>
        </p:xfrm>
        <a:graphic>
          <a:graphicData uri="http://schemas.openxmlformats.org/drawingml/2006/table">
            <a:tbl>
              <a:tblPr/>
              <a:tblGrid>
                <a:gridCol w="3238090">
                  <a:extLst>
                    <a:ext uri="{9D8B030D-6E8A-4147-A177-3AD203B41FA5}">
                      <a16:colId xmlns:a16="http://schemas.microsoft.com/office/drawing/2014/main" val="1769172407"/>
                    </a:ext>
                  </a:extLst>
                </a:gridCol>
                <a:gridCol w="3238090">
                  <a:extLst>
                    <a:ext uri="{9D8B030D-6E8A-4147-A177-3AD203B41FA5}">
                      <a16:colId xmlns:a16="http://schemas.microsoft.com/office/drawing/2014/main" val="4218288153"/>
                    </a:ext>
                  </a:extLst>
                </a:gridCol>
                <a:gridCol w="3238090">
                  <a:extLst>
                    <a:ext uri="{9D8B030D-6E8A-4147-A177-3AD203B41FA5}">
                      <a16:colId xmlns:a16="http://schemas.microsoft.com/office/drawing/2014/main" val="3653528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Original CR3DT (Baseline)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Our Improvement (Radar Adapter)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8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RADAR data is sparse/noisy, forcing the main network to filter clutter.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The Adapter cleans and normalizes RADAR features before fusion.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447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Fusion Mechanism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Simple Concatenation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Adapter + Concatenation</a:t>
                      </a:r>
                      <a:r>
                        <a:rPr lang="en-IN" dirty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85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Code Implementation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fused = torch.cat([cam, </a:t>
                      </a:r>
                      <a:r>
                        <a:rPr lang="en-US" dirty="0" err="1">
                          <a:effectLst/>
                          <a:latin typeface="Calibri" panose="020F0502020204030204" pitchFamily="34" charset="0"/>
                        </a:rPr>
                        <a:t>radar_feats</a:t>
                      </a:r>
                      <a:r>
                        <a:rPr lang="en-US" dirty="0">
                          <a:effectLst/>
                          <a:latin typeface="Calibri" panose="020F0502020204030204" pitchFamily="34" charset="0"/>
                        </a:rPr>
                        <a:t>], dim=1)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effectLst/>
                          <a:latin typeface="Calibri" panose="020F0502020204030204" pitchFamily="34" charset="0"/>
                        </a:rPr>
                        <a:t>radar_feats</a:t>
                      </a:r>
                      <a:r>
                        <a:rPr lang="en-IN" dirty="0">
                          <a:effectLst/>
                          <a:latin typeface="Calibri" panose="020F0502020204030204" pitchFamily="34" charset="0"/>
                        </a:rPr>
                        <a:t> = </a:t>
                      </a:r>
                      <a:r>
                        <a:rPr lang="en-IN" dirty="0" err="1">
                          <a:effectLst/>
                          <a:latin typeface="Calibri" panose="020F0502020204030204" pitchFamily="34" charset="0"/>
                        </a:rPr>
                        <a:t>self.radar_adapter</a:t>
                      </a:r>
                      <a:r>
                        <a:rPr lang="en-IN" dirty="0"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IN" dirty="0" err="1">
                          <a:effectLst/>
                          <a:latin typeface="Calibri" panose="020F0502020204030204" pitchFamily="34" charset="0"/>
                        </a:rPr>
                        <a:t>radar_feats</a:t>
                      </a:r>
                      <a:r>
                        <a:rPr lang="en-IN" dirty="0">
                          <a:effectLst/>
                          <a:latin typeface="Calibri" panose="020F0502020204030204" pitchFamily="34" charset="0"/>
                        </a:rPr>
                        <a:t>); fused = torch.cat([cam, </a:t>
                      </a:r>
                      <a:r>
                        <a:rPr lang="en-IN" dirty="0" err="1">
                          <a:effectLst/>
                          <a:latin typeface="Calibri" panose="020F0502020204030204" pitchFamily="34" charset="0"/>
                        </a:rPr>
                        <a:t>radar_feats</a:t>
                      </a:r>
                      <a:r>
                        <a:rPr lang="en-IN" dirty="0">
                          <a:effectLst/>
                          <a:latin typeface="Calibri" panose="020F0502020204030204" pitchFamily="34" charset="0"/>
                        </a:rPr>
                        <a:t>], dim=1)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707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Calibri" panose="020F0502020204030204" pitchFamily="34" charset="0"/>
                        </a:rPr>
                        <a:t>Radar Feature Input</a:t>
                      </a:r>
                      <a:endParaRPr lang="en-IN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Calibri" panose="020F0502020204030204" pitchFamily="34" charset="0"/>
                        </a:rPr>
                        <a:t>Raw 18 * 128 * 128</a:t>
                      </a:r>
                      <a:endParaRPr lang="en-US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Calibri" panose="020F0502020204030204" pitchFamily="34" charset="0"/>
                        </a:rPr>
                        <a:t>Processed 18 * 128 * 128</a:t>
                      </a:r>
                      <a:endParaRPr lang="en-US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8921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B31B4AE-F4EA-423F-4701-FC91E4E3BE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2164" y="1642003"/>
            <a:ext cx="97139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We introduced the Radar Adapter block to address the noise and sparsity in the raw RADAR features at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Intermediate Fusion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stage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822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8193-250F-C393-F413-1C11586A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06" y="335744"/>
            <a:ext cx="10972440" cy="1144800"/>
          </a:xfrm>
        </p:spPr>
        <p:txBody>
          <a:bodyPr/>
          <a:lstStyle/>
          <a:p>
            <a:r>
              <a:rPr lang="en-US" sz="3600" b="1" dirty="0">
                <a:solidFill>
                  <a:srgbClr val="1E3A8A"/>
                </a:solidFill>
              </a:rPr>
              <a:t>How the Radar Adapter Improves Performance</a:t>
            </a:r>
            <a:endParaRPr lang="en-IN" sz="3600" b="1" dirty="0">
              <a:solidFill>
                <a:srgbClr val="1E3A8A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BA8A42-5A8E-A59F-CCE3-896616892E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0706" y="1735643"/>
            <a:ext cx="11493852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The Adapter acts as a dedicated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Translator and Filter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for RADAR features, enhancing the quality of the combined BEV map.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Adapter Structure (Conv-BN-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ReLU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</a:t>
            </a:r>
            <a:endParaRPr lang="en-US" altLang="en-US" sz="3200" b="1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Conv2d: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Acts as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Filter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to suppress sparse noise and unwanted clutter.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BatchNorm2d: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Acts as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Normalizer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to ensure RADAR features are statistically compatible with Camera features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Feature Alignment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ReLU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Adds non-linearity and further cleans the signal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8668A-EF29-7834-253B-2B5A02998BFC}"/>
              </a:ext>
            </a:extLst>
          </p:cNvPr>
          <p:cNvSpPr txBox="1"/>
          <p:nvPr/>
        </p:nvSpPr>
        <p:spPr>
          <a:xfrm>
            <a:off x="260706" y="4761903"/>
            <a:ext cx="1123314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By pre-processing the features, the main network (BEV Encoder) can focus on high-level spatial feature learning instead of noise filtering.</a:t>
            </a:r>
          </a:p>
          <a:p>
            <a:r>
              <a:rPr lang="en-US" sz="1400" dirty="0"/>
              <a:t>This small change immediately improved the network's ability to utilize velocity information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600" b="1" dirty="0"/>
              <a:t>Result:</a:t>
            </a:r>
            <a:r>
              <a:rPr lang="en-US" sz="1600" dirty="0"/>
              <a:t> The mean Average Velocity Error (</a:t>
            </a:r>
            <a:r>
              <a:rPr lang="en-US" sz="1600" b="1" dirty="0" err="1"/>
              <a:t>mAVE</a:t>
            </a:r>
            <a:r>
              <a:rPr lang="en-US" sz="1600" dirty="0"/>
              <a:t>) improved from baseline 0.86 to 0.8247 during fine-tuning. This confirms the Adapter successfully improves the utilization and accuracy of the RADAR sensor for tracking. </a:t>
            </a:r>
          </a:p>
        </p:txBody>
      </p:sp>
    </p:spTree>
    <p:extLst>
      <p:ext uri="{BB962C8B-B14F-4D97-AF65-F5344CB8AC3E}">
        <p14:creationId xmlns:p14="http://schemas.microsoft.com/office/powerpoint/2010/main" val="2715145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22606-AECE-9F2A-F116-7377C7EA1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FE691-8176-74BA-CD6C-336542011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600" dirty="0"/>
              <a:t>Both modifications integrated cleanly, trained without errors, produced valid checkpoints, and demonstrated correct forward behavior</a:t>
            </a:r>
            <a:r>
              <a:rPr lang="en-US" sz="3200" dirty="0"/>
              <a:t>.</a:t>
            </a:r>
          </a:p>
          <a:p>
            <a:pPr marL="285750" indent="-28575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600" dirty="0"/>
              <a:t>Gated Fusion passed 3-epoch validation (functional) and the Radar Adapter is currently fine-tuning with pretrained weights, and has already demonstrated improved tracking performance, with </a:t>
            </a:r>
            <a:r>
              <a:rPr lang="en-US" sz="1600" dirty="0" err="1"/>
              <a:t>mAVE</a:t>
            </a:r>
            <a:r>
              <a:rPr lang="en-US" sz="1600" dirty="0"/>
              <a:t> improving from 0.86 to 0.8247 during the run.</a:t>
            </a:r>
            <a:endParaRPr lang="en-US" sz="1800" dirty="0"/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600" dirty="0"/>
              <a:t>-Major technical issues (VRAM, RAM crashes, Docker instability, blocked dependencies) were resolved systematically.</a:t>
            </a:r>
            <a:br>
              <a:rPr lang="en-US" sz="1600" dirty="0"/>
            </a:br>
            <a:endParaRPr lang="en-US" sz="1600" dirty="0"/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600" dirty="0"/>
              <a:t>-Overall, the project not only reproduced the CR3DT system but also extended it with meaningful, stable, and practically beneficial fusion improvements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075785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D5B5-4F63-F204-1B40-BBB172F9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Future Prospects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85574F-F11F-8E0B-5FF9-0D960E3EC99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3171" y="2065793"/>
            <a:ext cx="860043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the Radar Adapter model fully and compare the final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baseline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information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(use past frames) to improve tracking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 a stronger backbone (e.g., ResNet-101) for better feature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950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6"/>
          <p:cNvSpPr txBox="1"/>
          <p:nvPr/>
        </p:nvSpPr>
        <p:spPr>
          <a:xfrm>
            <a:off x="2167631" y="2443786"/>
            <a:ext cx="7856738" cy="1970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 b="1" dirty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2290</Words>
  <Application>Microsoft Macintosh PowerPoint</Application>
  <PresentationFormat>Widescreen</PresentationFormat>
  <Paragraphs>273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Times New Roman</vt:lpstr>
      <vt:lpstr>Roboto Mono</vt:lpstr>
      <vt:lpstr>Calibri</vt:lpstr>
      <vt:lpstr>Courier New</vt:lpstr>
      <vt:lpstr>Office Theme</vt:lpstr>
      <vt:lpstr>Office Theme</vt:lpstr>
      <vt:lpstr>PowerPoint Presentation</vt:lpstr>
      <vt:lpstr>PowerPoint Presentation</vt:lpstr>
      <vt:lpstr>PowerPoint Presentation</vt:lpstr>
      <vt:lpstr>Model Inputs I: Camera </vt:lpstr>
      <vt:lpstr>Model Inputs II: Radar Pipeline </vt:lpstr>
      <vt:lpstr>CR3DT Architecture Overview </vt:lpstr>
      <vt:lpstr> DETECTION Pipeline: Key Inputs </vt:lpstr>
      <vt:lpstr> The LSS Process: Lift, Splat, Augment </vt:lpstr>
      <vt:lpstr> Dual-Stage RADAR Fusion </vt:lpstr>
      <vt:lpstr> The Detection Head: CenterPoint </vt:lpstr>
      <vt:lpstr> How CenterPoint Works:  </vt:lpstr>
      <vt:lpstr> How CenterPoint Works: Decoding Boxes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Architectural Improvement: The Radar Adapter </vt:lpstr>
      <vt:lpstr>How the Radar Adapter Improves Performance</vt:lpstr>
      <vt:lpstr>Conclusion</vt:lpstr>
      <vt:lpstr>Future Prospects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Jindal</dc:creator>
  <cp:lastModifiedBy>Deepanshu Jain</cp:lastModifiedBy>
  <cp:revision>4</cp:revision>
  <dcterms:modified xsi:type="dcterms:W3CDTF">2025-11-24T16:34:48Z</dcterms:modified>
</cp:coreProperties>
</file>